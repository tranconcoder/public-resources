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281160" y="-274320"/>
            <a:ext cx="502920" cy="2377440"/>
          </a:xfrm>
          <a:prstGeom prst="roundRect">
            <a:avLst/>
          </a:prstGeom>
          <a:solidFill>
            <a:srgbClr val="8C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56648" y="-274320"/>
            <a:ext cx="502920" cy="2697480"/>
          </a:xfrm>
          <a:prstGeom prst="roundRect">
            <a:avLst/>
          </a:prstGeom>
          <a:solidFill>
            <a:srgbClr val="B56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232136" y="-274320"/>
            <a:ext cx="502920" cy="3017520"/>
          </a:xfrm>
          <a:prstGeom prst="roundRect">
            <a:avLst/>
          </a:prstGeom>
          <a:solidFill>
            <a:srgbClr val="4A4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07624" y="-274320"/>
            <a:ext cx="502920" cy="2377440"/>
          </a:xfrm>
          <a:prstGeom prst="round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83112" y="-274320"/>
            <a:ext cx="502920" cy="2697480"/>
          </a:xfrm>
          <a:prstGeom prst="round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58600" y="-274320"/>
            <a:ext cx="502920" cy="3017520"/>
          </a:xfrm>
          <a:prstGeom prst="round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5394960"/>
            <a:ext cx="1645920" cy="164592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0" y="6035040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FA287"/>
                </a:solidFill>
                <a:latin typeface="Calibri"/>
              </a:rPr>
              <a:t>TRƯỜNG ĐẠI HỌC CÔNG NGHIỆP TP. HỒ CHÍ MINH  ·  KHOA CÔNG NGHỆ HÓA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4884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C88A2E"/>
                </a:solidFill>
                <a:latin typeface="Cambria"/>
              </a:rPr>
              <a:t>BÁO CÁO THỰC TẬP TỐT NGHIỆP</a:t>
            </a:r>
          </a:p>
          <a:p>
            <a:pPr algn="l">
              <a:lnSpc>
                <a:spcPct val="104000"/>
              </a:lnSpc>
            </a:pPr>
            <a:r>
              <a:rPr sz="3800" b="1" i="0">
                <a:solidFill>
                  <a:srgbClr val="FFFFFF"/>
                </a:solidFill>
                <a:latin typeface="Cambria"/>
              </a:rPr>
              <a:t>Quy trình sản xuất và kiểm soát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chất lượng sơn</a:t>
            </a:r>
          </a:p>
          <a:p>
            <a:pPr algn="l">
              <a:lnSpc>
                <a:spcPct val="102000"/>
              </a:lnSpc>
            </a:pPr>
            <a:r>
              <a:rPr sz="2600" b="1" i="0">
                <a:solidFill>
                  <a:srgbClr val="E9F2EC"/>
                </a:solidFill>
                <a:latin typeface="Cambria"/>
              </a:rPr>
              <a:t>tại Công ty TNHH Sơn Hải Vân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029200"/>
            <a:ext cx="10515600" cy="1097280"/>
          </a:xfrm>
          <a:prstGeom prst="roundRect">
            <a:avLst>
              <a:gd name="adj" fmla="val 6000"/>
            </a:avLst>
          </a:prstGeom>
          <a:solidFill>
            <a:srgbClr val="18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138928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6FA287"/>
                </a:solidFill>
                <a:latin typeface="Calibri"/>
              </a:rPr>
              <a:t>Doanh nghiệp: 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Công ty TNHH Sơn Hải Vân</a:t>
            </a:r>
          </a:p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6FA287"/>
                </a:solidFill>
                <a:latin typeface="Calibri"/>
              </a:rPr>
              <a:t>Sinh viên: 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Nhóm 8 SV thực tập</a:t>
            </a:r>
          </a:p>
          <a:p>
            <a:pPr algn="l"/>
            <a:r>
              <a:rPr sz="1450" b="1" i="0">
                <a:solidFill>
                  <a:srgbClr val="6FA287"/>
                </a:solidFill>
                <a:latin typeface="Calibri"/>
              </a:rPr>
              <a:t>Lớp: 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DHHO18A–D  ·  Năm học 2025–2026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138928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6FA287"/>
                </a:solidFill>
                <a:latin typeface="Calibri"/>
              </a:rPr>
              <a:t>GVHD: 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Lê Nhất Thống</a:t>
            </a:r>
          </a:p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6FA287"/>
                </a:solidFill>
                <a:latin typeface="Calibri"/>
              </a:rPr>
              <a:t>CBHD: 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Lê Quốc</a:t>
            </a:r>
          </a:p>
          <a:p>
            <a:pPr algn="l"/>
            <a:r>
              <a:rPr sz="1350" b="0" i="1">
                <a:solidFill>
                  <a:srgbClr val="6FA287"/>
                </a:solidFill>
                <a:latin typeface="Calibri"/>
              </a:rPr>
              <a:t>TP. Hồ Chí Minh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120640"/>
            <a:ext cx="2377440" cy="2377440"/>
          </a:xfrm>
          <a:prstGeom prst="ellipse">
            <a:avLst/>
          </a:prstGeom>
          <a:solidFill>
            <a:srgbClr val="18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108960" y="-731520"/>
            <a:ext cx="1463040" cy="146304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88A2E"/>
                </a:solidFill>
                <a:latin typeface="Calibri"/>
              </a:rPr>
              <a:t>NỘI DUNG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Báo cáo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gồm 6 phần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6FA287"/>
                </a:solidFill>
                <a:latin typeface="Calibri"/>
              </a:rPr>
              <a:t>Từ tổng quan doanh nghiệp đến quy trình, chất lượng, sự cố và an toàn – môi trường.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709160"/>
            <a:ext cx="2926080" cy="1600200"/>
          </a:xfrm>
          <a:prstGeom prst="roundRect">
            <a:avLst>
              <a:gd name="adj" fmla="val 6000"/>
            </a:avLst>
          </a:prstGeom>
          <a:solidFill>
            <a:srgbClr val="18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int_can.jpg"/>
          <p:cNvPicPr>
            <a:picLocks noChangeAspect="1"/>
          </p:cNvPicPr>
          <p:nvPr/>
        </p:nvPicPr>
        <p:blipFill>
          <a:blip r:embed="rId2"/>
          <a:srcRect t="12500" b="12500"/>
          <a:stretch>
            <a:fillRect/>
          </a:stretch>
        </p:blipFill>
        <p:spPr>
          <a:xfrm>
            <a:off x="640080" y="4846320"/>
            <a:ext cx="2651760" cy="1325880"/>
          </a:xfrm>
          <a:prstGeom prst="rect">
            <a:avLst/>
          </a:prstGeom>
          <a:ln w="25400">
            <a:solidFill>
              <a:srgbClr val="FFFFFF"/>
            </a:solidFill>
          </a:ln>
          <a:effectLst/>
        </p:spPr>
      </p:pic>
      <p:sp>
        <p:nvSpPr>
          <p:cNvPr id="9" name="Rectangle 8"/>
          <p:cNvSpPr/>
          <p:nvPr/>
        </p:nvSpPr>
        <p:spPr>
          <a:xfrm>
            <a:off x="4828032" y="868680"/>
            <a:ext cx="54864" cy="5212080"/>
          </a:xfrm>
          <a:prstGeom prst="rect">
            <a:avLst/>
          </a:prstGeom>
          <a:solidFill>
            <a:srgbClr val="D5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62272" y="768096"/>
            <a:ext cx="768096" cy="768096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768096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731520"/>
            <a:ext cx="6492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4E3D"/>
                </a:solidFill>
                <a:latin typeface="Calibri"/>
              </a:rPr>
              <a:t>Tổng quan về công 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188720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64"/>
                </a:solidFill>
                <a:latin typeface="Calibri"/>
              </a:rPr>
              <a:t>Giới thiệu · sản phẩm · thị trường · quy mô · khách hàng</a:t>
            </a:r>
          </a:p>
        </p:txBody>
      </p:sp>
      <p:sp>
        <p:nvSpPr>
          <p:cNvPr id="14" name="Oval 13"/>
          <p:cNvSpPr/>
          <p:nvPr/>
        </p:nvSpPr>
        <p:spPr>
          <a:xfrm>
            <a:off x="4462272" y="1655064"/>
            <a:ext cx="768096" cy="768096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655064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618488"/>
            <a:ext cx="6492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4E3D"/>
                </a:solidFill>
                <a:latin typeface="Calibri"/>
              </a:rPr>
              <a:t>Nguyên vật liệu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075688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64"/>
                </a:solidFill>
                <a:latin typeface="Calibri"/>
              </a:rPr>
              <a:t>Thành phần · tỷ lệ · cấu trúc hệ sơn tàu biển</a:t>
            </a:r>
          </a:p>
        </p:txBody>
      </p:sp>
      <p:sp>
        <p:nvSpPr>
          <p:cNvPr id="18" name="Oval 17"/>
          <p:cNvSpPr/>
          <p:nvPr/>
        </p:nvSpPr>
        <p:spPr>
          <a:xfrm>
            <a:off x="4462272" y="2542032"/>
            <a:ext cx="768096" cy="768096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2542032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2505456"/>
            <a:ext cx="6492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4E3D"/>
                </a:solidFill>
                <a:latin typeface="Calibri"/>
              </a:rPr>
              <a:t>Quy trình công nghệ &amp; thiết bị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2962656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64"/>
                </a:solidFill>
                <a:latin typeface="Calibri"/>
              </a:rPr>
              <a:t>Trình tự · thời gian · thiết bị chính</a:t>
            </a:r>
          </a:p>
        </p:txBody>
      </p:sp>
      <p:sp>
        <p:nvSpPr>
          <p:cNvPr id="22" name="Oval 21"/>
          <p:cNvSpPr/>
          <p:nvPr/>
        </p:nvSpPr>
        <p:spPr>
          <a:xfrm>
            <a:off x="4462272" y="3429000"/>
            <a:ext cx="768096" cy="768096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342900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3392424"/>
            <a:ext cx="6492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4E3D"/>
                </a:solidFill>
                <a:latin typeface="Calibri"/>
              </a:rPr>
              <a:t>Kiểm soát chất lượng (KCS)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849624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64"/>
                </a:solidFill>
                <a:latin typeface="Calibri"/>
              </a:rPr>
              <a:t>Kiểm tra tại xưởng · phòng lab · sơn tàu biển</a:t>
            </a:r>
          </a:p>
        </p:txBody>
      </p:sp>
      <p:sp>
        <p:nvSpPr>
          <p:cNvPr id="26" name="Oval 25"/>
          <p:cNvSpPr/>
          <p:nvPr/>
        </p:nvSpPr>
        <p:spPr>
          <a:xfrm>
            <a:off x="4462272" y="4315968"/>
            <a:ext cx="768096" cy="768096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4315968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4279392"/>
            <a:ext cx="6492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4E3D"/>
                </a:solidFill>
                <a:latin typeface="Calibri"/>
              </a:rPr>
              <a:t>Những sự cố thường gặp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4736592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64"/>
                </a:solidFill>
                <a:latin typeface="Calibri"/>
              </a:rPr>
              <a:t>Nhận diện · nguyên nhân · biện pháp xử lý</a:t>
            </a:r>
          </a:p>
        </p:txBody>
      </p:sp>
      <p:sp>
        <p:nvSpPr>
          <p:cNvPr id="30" name="Oval 29"/>
          <p:cNvSpPr/>
          <p:nvPr/>
        </p:nvSpPr>
        <p:spPr>
          <a:xfrm>
            <a:off x="4462272" y="5202936"/>
            <a:ext cx="768096" cy="768096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5202936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5166359"/>
            <a:ext cx="6492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4E3D"/>
                </a:solidFill>
                <a:latin typeface="Calibri"/>
              </a:rPr>
              <a:t>An toàn lao động &amp; môi trường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5623560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64"/>
                </a:solidFill>
                <a:latin typeface="Calibri"/>
              </a:rPr>
              <a:t>PCCC · dung môi/VOC · xử lý khí thải – nước thải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C7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2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90"/>
                      </p:stCondLst>
                      <p:childTnLst>
                        <p:par>
                          <p:cTn id="10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270"/>
                      </p:stCondLst>
                      <p:childTnLst>
                        <p:par>
                          <p:cTn id="20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3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2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8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90"/>
                      </p:stCondLst>
                      <p:childTnLst>
                        <p:par>
                          <p:cTn id="30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3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180"/>
                      </p:stCondLst>
                      <p:childTnLst>
                        <p:par>
                          <p:cTn id="35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270"/>
                      </p:stCondLst>
                      <p:childTnLst>
                        <p:par>
                          <p:cTn id="40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3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presetID="2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90"/>
                      </p:stCondLst>
                      <p:childTnLst>
                        <p:par>
                          <p:cTn id="50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3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180"/>
                      </p:stCondLst>
                      <p:childTnLst>
                        <p:par>
                          <p:cTn id="55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8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270"/>
                      </p:stCondLst>
                      <p:childTnLst>
                        <p:par>
                          <p:cTn id="60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3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presetID="2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8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90"/>
                      </p:stCondLst>
                      <p:childTnLst>
                        <p:par>
                          <p:cTn id="70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3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180"/>
                      </p:stCondLst>
                      <p:childTnLst>
                        <p:par>
                          <p:cTn id="75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8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270"/>
                      </p:stCondLst>
                      <p:childTnLst>
                        <p:par>
                          <p:cTn id="80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8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3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presetID="2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8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8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90"/>
                      </p:stCondLst>
                      <p:childTnLst>
                        <p:par>
                          <p:cTn id="90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9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93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180"/>
                      </p:stCondLst>
                      <p:childTnLst>
                        <p:par>
                          <p:cTn id="95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9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98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270"/>
                      </p:stCondLst>
                      <p:childTnLst>
                        <p:par>
                          <p:cTn id="100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3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presetID="2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8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90"/>
                      </p:stCondLst>
                      <p:childTnLst>
                        <p:par>
                          <p:cTn id="110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3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180"/>
                      </p:stCondLst>
                      <p:childTnLst>
                        <p:par>
                          <p:cTn id="115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8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270"/>
                      </p:stCondLst>
                      <p:childTnLst>
                        <p:par>
                          <p:cTn id="120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3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960120"/>
            <a:ext cx="1234440" cy="123444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2344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56692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FA287"/>
                </a:solidFill>
                <a:latin typeface="Calibri"/>
              </a:rPr>
              <a:t>PHẦN 1</a:t>
            </a:r>
          </a:p>
          <a:p>
            <a:pPr algn="l">
              <a:lnSpc>
                <a:spcPct val="103000"/>
              </a:lnSpc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Tổng quan về công ty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6FA287"/>
                </a:solidFill>
                <a:latin typeface="Calibri"/>
              </a:rPr>
              <a:t>Giới thiệu · sản phẩm · thị trường · quy mô · khách hàng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960120"/>
            <a:ext cx="493776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rine_hull.jpg"/>
          <p:cNvPicPr>
            <a:picLocks noChangeAspect="1"/>
          </p:cNvPicPr>
          <p:nvPr/>
        </p:nvPicPr>
        <p:blipFill>
          <a:blip r:embed="rId2"/>
          <a:srcRect l="17500" r="17500"/>
          <a:stretch>
            <a:fillRect/>
          </a:stretch>
        </p:blipFill>
        <p:spPr>
          <a:xfrm>
            <a:off x="6858000" y="1097280"/>
            <a:ext cx="4663440" cy="4663440"/>
          </a:xfrm>
          <a:prstGeom prst="rect">
            <a:avLst/>
          </a:prstGeom>
          <a:ln w="25400">
            <a:solidFill>
              <a:srgbClr val="FFFFFF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720840" y="60350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FA287"/>
                </a:solidFill>
                <a:latin typeface="Calibri"/>
              </a:rPr>
              <a:t>Ảnh: U.S. Navy (Public Domain) — minh họa sơn tàu biển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212080"/>
            <a:ext cx="2377440" cy="2377440"/>
          </a:xfrm>
          <a:prstGeom prst="ellipse">
            <a:avLst/>
          </a:prstGeom>
          <a:solidFill>
            <a:srgbClr val="18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383280" y="-731520"/>
            <a:ext cx="1371600" cy="137160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88A2E"/>
                </a:solidFill>
                <a:latin typeface="Calibri"/>
              </a:rPr>
              <a:t>1. TỔNG QUAN</a:t>
            </a:r>
          </a:p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Công ty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Sơn Hải Vân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6FA287"/>
                </a:solidFill>
                <a:latin typeface="Calibri"/>
              </a:rPr>
              <a:t>Sản xuất sơn công nghiệp &amp; sơn tàu biển bảo vệ chuyên dụng.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160520"/>
            <a:ext cx="3200400" cy="2148840"/>
          </a:xfrm>
          <a:prstGeom prst="roundRect">
            <a:avLst>
              <a:gd name="adj" fmla="val 6000"/>
            </a:avLst>
          </a:prstGeom>
          <a:solidFill>
            <a:srgbClr val="18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int_can.jpg"/>
          <p:cNvPicPr>
            <a:picLocks noChangeAspect="1"/>
          </p:cNvPicPr>
          <p:nvPr/>
        </p:nvPicPr>
        <p:blipFill>
          <a:blip r:embed="rId2"/>
          <a:srcRect t="2031" b="2031"/>
          <a:stretch>
            <a:fillRect/>
          </a:stretch>
        </p:blipFill>
        <p:spPr>
          <a:xfrm>
            <a:off x="640080" y="4297680"/>
            <a:ext cx="2926080" cy="1874519"/>
          </a:xfrm>
          <a:prstGeom prst="rect">
            <a:avLst/>
          </a:prstGeom>
          <a:ln w="25400">
            <a:solidFill>
              <a:srgbClr val="FFFFFF"/>
            </a:solidFill>
          </a:ln>
          <a:effectLst/>
        </p:spPr>
      </p:pic>
      <p:sp>
        <p:nvSpPr>
          <p:cNvPr id="9" name="Rounded Rectangle 8"/>
          <p:cNvSpPr/>
          <p:nvPr/>
        </p:nvSpPr>
        <p:spPr>
          <a:xfrm>
            <a:off x="4663440" y="1417320"/>
            <a:ext cx="6949440" cy="141732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40" y="1417320"/>
            <a:ext cx="146304" cy="1417320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60020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4E3D"/>
                </a:solidFill>
                <a:latin typeface="Calibri"/>
              </a:rPr>
              <a:t>Lịch sử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05740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222B28"/>
                </a:solidFill>
                <a:latin typeface="Calibri"/>
              </a:rPr>
              <a:t>Thành lập 2008, chính thức sản xuất từ 2009 (ĐKKD Sở KH&amp;ĐT TP.HCM).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999232"/>
            <a:ext cx="6949440" cy="141732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2999232"/>
            <a:ext cx="146304" cy="1417320"/>
          </a:xfrm>
          <a:prstGeom prst="roundRect">
            <a:avLst>
              <a:gd name="adj" fmla="val 6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3182112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88A2E"/>
                </a:solidFill>
                <a:latin typeface="Calibri"/>
              </a:rPr>
              <a:t>Sản phẩm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639312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222B28"/>
                </a:solidFill>
                <a:latin typeface="Calibri"/>
              </a:rPr>
              <a:t>Sơn chống ăn mòn, chống cháy, bảo vệ công trình &amp; hàng hải; kèm hóa chất, chất phủ.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4581144"/>
            <a:ext cx="6949440" cy="141732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63440" y="4581144"/>
            <a:ext cx="146304" cy="1417320"/>
          </a:xfrm>
          <a:prstGeom prst="roundRect">
            <a:avLst>
              <a:gd name="adj" fmla="val 6000"/>
            </a:avLst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4764024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C7A5A"/>
                </a:solidFill>
                <a:latin typeface="Calibri"/>
              </a:rPr>
              <a:t>Quy mô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221224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222B28"/>
                </a:solidFill>
                <a:latin typeface="Calibri"/>
              </a:rPr>
              <a:t>Doanh nghiệp sản xuất vừa (SME) · mô hình B2B · nhà máy tại Long 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C7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2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90"/>
                      </p:stCondLst>
                      <p:childTnLst>
                        <p:par>
                          <p:cTn id="10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270"/>
                      </p:stCondLst>
                      <p:childTnLst>
                        <p:par>
                          <p:cTn id="20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3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2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90"/>
                      </p:stCondLst>
                      <p:childTnLst>
                        <p:par>
                          <p:cTn id="30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3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180"/>
                      </p:stCondLst>
                      <p:childTnLst>
                        <p:par>
                          <p:cTn id="35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270"/>
                      </p:stCondLst>
                      <p:childTnLst>
                        <p:par>
                          <p:cTn id="40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3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presetID="2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8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90"/>
                      </p:stCondLst>
                      <p:childTnLst>
                        <p:par>
                          <p:cTn id="50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3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180"/>
                      </p:stCondLst>
                      <p:childTnLst>
                        <p:par>
                          <p:cTn id="55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8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270"/>
                      </p:stCondLst>
                      <p:childTnLst>
                        <p:par>
                          <p:cTn id="60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3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C7A5A"/>
                </a:solidFill>
                <a:latin typeface="Calibri"/>
              </a:rPr>
              <a:t>1. TỔNG QUAN</a:t>
            </a:r>
          </a:p>
          <a:p>
            <a:pPr algn="l"/>
            <a:r>
              <a:rPr sz="2700" b="1" i="0">
                <a:solidFill>
                  <a:srgbClr val="1F4E3D"/>
                </a:solidFill>
                <a:latin typeface="Cambria"/>
              </a:rPr>
              <a:t>Thị trường, quy mô &amp; khách hàng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611880" cy="429768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11880" cy="777240"/>
          </a:xfrm>
          <a:prstGeom prst="roundRect">
            <a:avLst>
              <a:gd name="adj" fmla="val 6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611880" cy="32004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54480"/>
            <a:ext cx="3154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Phân khúc thị trường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514600"/>
            <a:ext cx="30998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1">
                <a:solidFill>
                  <a:srgbClr val="5C6B64"/>
                </a:solidFill>
                <a:latin typeface="Calibri"/>
              </a:rPr>
              <a:t>B2B kỹ thuật — không phải sơn trang trí dân dụng đại trà.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611880"/>
            <a:ext cx="309981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C88A2E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22B28"/>
                </a:solidFill>
                <a:latin typeface="Calibri"/>
              </a:rPr>
              <a:t>Chủ đầu tư công trình công nghiệp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C88A2E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22B28"/>
                </a:solidFill>
                <a:latin typeface="Calibri"/>
              </a:rPr>
              <a:t>Đơn vị đóng / sửa chữa tàu biển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C88A2E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22B28"/>
                </a:solidFill>
                <a:latin typeface="Calibri"/>
              </a:rPr>
              <a:t>Đại lý phân phối sơn bảo vệ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554480"/>
            <a:ext cx="3611880" cy="429768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16552" y="1554480"/>
            <a:ext cx="3611880" cy="777240"/>
          </a:xfrm>
          <a:prstGeom prst="roundRect">
            <a:avLst>
              <a:gd name="adj" fmla="val 6000"/>
            </a:avLst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2011680"/>
            <a:ext cx="3611880" cy="320040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4" y="1554480"/>
            <a:ext cx="3154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Quy mô doanh nghiệp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2514600"/>
            <a:ext cx="30998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1">
                <a:solidFill>
                  <a:srgbClr val="5C6B64"/>
                </a:solidFill>
                <a:latin typeface="Calibri"/>
              </a:rPr>
              <a:t>Doanh nghiệp sản xuất vừa (SME), bộ máy quản lý gọn.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3611880"/>
            <a:ext cx="309981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2C7A5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22B28"/>
                </a:solidFill>
                <a:latin typeface="Calibri"/>
              </a:rPr>
              <a:t>01 nhà máy sản xuất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2C7A5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22B28"/>
                </a:solidFill>
                <a:latin typeface="Calibri"/>
              </a:rPr>
              <a:t>Giám đốc → Phó GĐ / TP. Kỹ thuật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2C7A5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22B28"/>
                </a:solidFill>
                <a:latin typeface="Calibri"/>
              </a:rPr>
              <a:t>Các phòng ban chức năng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1554480"/>
            <a:ext cx="3611880" cy="429768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84464" y="1554480"/>
            <a:ext cx="3611880" cy="777240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84464" y="2011680"/>
            <a:ext cx="3611880" cy="32004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0496" y="1554480"/>
            <a:ext cx="3154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Khách hàng chính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2514600"/>
            <a:ext cx="30998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1">
                <a:solidFill>
                  <a:srgbClr val="5C6B64"/>
                </a:solidFill>
                <a:latin typeface="Calibri"/>
              </a:rPr>
              <a:t>Tập trung nhóm khách kỹ thuật, mua theo dự án / hợp đồng.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496" y="3611880"/>
            <a:ext cx="309981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1F4E3D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22B28"/>
                </a:solidFill>
                <a:latin typeface="Calibri"/>
              </a:rPr>
              <a:t>Xưởng đóng &amp; sửa chữa tàu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1F4E3D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22B28"/>
                </a:solidFill>
                <a:latin typeface="Calibri"/>
              </a:rPr>
              <a:t>Chủ đầu tư công trình thép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1F4E3D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22B28"/>
                </a:solidFill>
                <a:latin typeface="Calibri"/>
              </a:rPr>
              <a:t>Đại lý sơn chuyên dụng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64"/>
                </a:solidFill>
                <a:latin typeface="Calibri"/>
              </a:rPr>
              <a:t>Báo cáo thực tập  ·  Công ty TNHH Sơn Hải Vân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C7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90"/>
                      </p:stCondLst>
                      <p:childTnLst>
                        <p:par>
                          <p:cTn id="1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270"/>
                      </p:stCondLst>
                      <p:childTnLst>
                        <p:par>
                          <p:cTn id="2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3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360"/>
                      </p:stCondLst>
                      <p:childTnLst>
                        <p:par>
                          <p:cTn id="2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8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450"/>
                      </p:stCondLst>
                      <p:childTnLst>
                        <p:par>
                          <p:cTn id="3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3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presetID="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8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90"/>
                      </p:stCondLst>
                      <p:childTnLst>
                        <p:par>
                          <p:cTn id="4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3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180"/>
                      </p:stCondLst>
                      <p:childTnLst>
                        <p:par>
                          <p:cTn id="4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8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270"/>
                      </p:stCondLst>
                      <p:childTnLst>
                        <p:par>
                          <p:cTn id="5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3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360"/>
                      </p:stCondLst>
                      <p:childTnLst>
                        <p:par>
                          <p:cTn id="5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450"/>
                      </p:stCondLst>
                      <p:childTnLst>
                        <p:par>
                          <p:cTn id="6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3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presetID="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90"/>
                      </p:stCondLst>
                      <p:childTnLst>
                        <p:par>
                          <p:cTn id="7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3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180"/>
                      </p:stCondLst>
                      <p:childTnLst>
                        <p:par>
                          <p:cTn id="7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8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270"/>
                      </p:stCondLst>
                      <p:childTnLst>
                        <p:par>
                          <p:cTn id="8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8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3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360"/>
                      </p:stCondLst>
                      <p:childTnLst>
                        <p:par>
                          <p:cTn id="8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8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8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450"/>
                      </p:stCondLst>
                      <p:childTnLst>
                        <p:par>
                          <p:cTn id="9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9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93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960120"/>
            <a:ext cx="1234440" cy="123444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2344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56692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FA287"/>
                </a:solidFill>
                <a:latin typeface="Calibri"/>
              </a:rPr>
              <a:t>PHẦN 2</a:t>
            </a:r>
          </a:p>
          <a:p>
            <a:pPr algn="l">
              <a:lnSpc>
                <a:spcPct val="103000"/>
              </a:lnSpc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Nguyên vật liệu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6FA287"/>
                </a:solidFill>
                <a:latin typeface="Calibri"/>
              </a:rPr>
              <a:t>Thành phần · tỷ lệ · cấu trúc hệ sơn tàu biển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960120"/>
            <a:ext cx="493776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int_can.jpg"/>
          <p:cNvPicPr>
            <a:picLocks noChangeAspect="1"/>
          </p:cNvPicPr>
          <p:nvPr/>
        </p:nvPicPr>
        <p:blipFill>
          <a:blip r:embed="rId2"/>
          <a:srcRect l="16666" r="16666"/>
          <a:stretch>
            <a:fillRect/>
          </a:stretch>
        </p:blipFill>
        <p:spPr>
          <a:xfrm>
            <a:off x="6858000" y="1097280"/>
            <a:ext cx="4663440" cy="4663440"/>
          </a:xfrm>
          <a:prstGeom prst="rect">
            <a:avLst/>
          </a:prstGeom>
          <a:ln w="25400">
            <a:solidFill>
              <a:srgbClr val="FFFFFF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720840" y="60350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FA287"/>
                </a:solidFill>
                <a:latin typeface="Calibri"/>
              </a:rPr>
              <a:t>Ảnh: Wikimedia Commons (CC BY 2.0) — lọ sơn thành phẩm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C7A5A"/>
                </a:solidFill>
                <a:latin typeface="Calibri"/>
              </a:rPr>
              <a:t>2. NGUYÊN VẬT LIỆU</a:t>
            </a:r>
          </a:p>
          <a:p>
            <a:pPr algn="l"/>
            <a:r>
              <a:rPr sz="2700" b="1" i="0">
                <a:solidFill>
                  <a:srgbClr val="1F4E3D"/>
                </a:solidFill>
                <a:latin typeface="Cambria"/>
              </a:rPr>
              <a:t>Bốn nhóm nguyên liệu cấu thành sơn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11109960" cy="1024128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673352"/>
            <a:ext cx="640080" cy="64008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09344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4E3D"/>
                </a:solidFill>
                <a:latin typeface="Calibri"/>
              </a:rPr>
              <a:t>Nhựa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1783080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78308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40–60%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572768"/>
            <a:ext cx="6172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222B28"/>
                </a:solidFill>
                <a:latin typeface="Calibri"/>
              </a:rPr>
              <a:t>“Khung xương” tạo màng liên tục — quyết định độ bám dính, độ bóng và độ bền cơ học.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15184"/>
            <a:ext cx="11109960" cy="1024128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2807208"/>
            <a:ext cx="640080" cy="64008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25496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743200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4E3D"/>
                </a:solidFill>
                <a:latin typeface="Calibri"/>
              </a:rPr>
              <a:t>Dung môi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2916936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2916936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20–40%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706624"/>
            <a:ext cx="6172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222B28"/>
                </a:solidFill>
                <a:latin typeface="Calibri"/>
              </a:rPr>
              <a:t>Hòa tan và phân tán các thành phần, điều chỉnh độ nhớt để dễ thi công; bay hơi khi sơn khô.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49040"/>
            <a:ext cx="11109960" cy="1024128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3941064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95935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877056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4E3D"/>
                </a:solidFill>
                <a:latin typeface="Calibri"/>
              </a:rPr>
              <a:t>Bột màu / bột độn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4050792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4050792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15–35%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3840480"/>
            <a:ext cx="6172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222B28"/>
                </a:solidFill>
                <a:latin typeface="Calibri"/>
              </a:rPr>
              <a:t>Bột màu tạo quang tính &amp; chức năng hóa lý; bột độn tối ưu thể tích, cải thiện cơ tính, giảm chi phí.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82896"/>
            <a:ext cx="11109960" cy="1024128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" y="5074920"/>
            <a:ext cx="640080" cy="640080"/>
          </a:xfrm>
          <a:prstGeom prst="ellipse">
            <a:avLst/>
          </a:prstGeom>
          <a:solidFill>
            <a:srgbClr val="5C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09320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010912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4E3D"/>
                </a:solidFill>
                <a:latin typeface="Calibri"/>
              </a:rPr>
              <a:t>Phụ gia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31920" y="5184648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5C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0" y="5184648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≤ 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974336"/>
            <a:ext cx="6172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222B28"/>
                </a:solidFill>
                <a:latin typeface="Calibri"/>
              </a:rPr>
              <a:t>Tỷ lệ rất nhỏ nhưng thiết yếu — nâng cao chất lượng và ngoại quan của màng sơn.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1996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C6B64"/>
                </a:solidFill>
                <a:latin typeface="Calibri"/>
              </a:rPr>
              <a:t>Tỷ lệ thay đổi theo loại sơn; sơn tàu biển thường giàu nhựa và bột độn chống ăn mòn hơn sơn trang trí.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C7A5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22" presetClass="entr" presetSubtype="1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" dur="5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" dur="5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180"/>
                      </p:stCondLst>
                      <p:childTnLst>
                        <p:par>
                          <p:cTn id="13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" dur="5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270"/>
                      </p:stCondLst>
                      <p:childTnLst>
                        <p:par>
                          <p:cTn id="17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" dur="5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360"/>
                      </p:stCondLst>
                      <p:childTnLst>
                        <p:par>
                          <p:cTn id="21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" dur="5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22" presetClass="entr" presetSubtype="1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" dur="5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90"/>
                      </p:stCondLst>
                      <p:childTnLst>
                        <p:par>
                          <p:cTn id="2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" dur="5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80"/>
                      </p:stCondLst>
                      <p:childTnLst>
                        <p:par>
                          <p:cTn id="33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5" dur="5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270"/>
                      </p:stCondLst>
                      <p:childTnLst>
                        <p:par>
                          <p:cTn id="37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9" dur="5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360"/>
                      </p:stCondLst>
                      <p:childTnLst>
                        <p:par>
                          <p:cTn id="41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3" dur="5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presetID="22" presetClass="entr" presetSubtype="1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7" dur="5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90"/>
                      </p:stCondLst>
                      <p:childTnLst>
                        <p:par>
                          <p:cTn id="4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180"/>
                      </p:stCondLst>
                      <p:childTnLst>
                        <p:par>
                          <p:cTn id="53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5" dur="5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270"/>
                      </p:stCondLst>
                      <p:childTnLst>
                        <p:par>
                          <p:cTn id="57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9" dur="5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60"/>
                      </p:stCondLst>
                      <p:childTnLst>
                        <p:par>
                          <p:cTn id="61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3" dur="55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presetID="22" presetClass="entr" presetSubtype="1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7" dur="55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90"/>
                      </p:stCondLst>
                      <p:childTnLst>
                        <p:par>
                          <p:cTn id="6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5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180"/>
                      </p:stCondLst>
                      <p:childTnLst>
                        <p:par>
                          <p:cTn id="73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5" dur="55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270"/>
                      </p:stCondLst>
                      <p:childTnLst>
                        <p:par>
                          <p:cTn id="77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9" dur="55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360"/>
                      </p:stCondLst>
                      <p:childTnLst>
                        <p:par>
                          <p:cTn id="81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3" dur="55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C7A5A"/>
                </a:solidFill>
                <a:latin typeface="Calibri"/>
              </a:rPr>
              <a:t>2. NGUYÊN VẬT LIỆU</a:t>
            </a:r>
          </a:p>
          <a:p>
            <a:pPr algn="l"/>
            <a:r>
              <a:rPr sz="2700" b="1" i="0">
                <a:solidFill>
                  <a:srgbClr val="1F4E3D"/>
                </a:solidFill>
                <a:latin typeface="Cambria"/>
              </a:rPr>
              <a:t>Nhựa Alkyd phân loại theo hàm lượng dầu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109960" cy="502920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109960" cy="27432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2926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Loại nhựa Alkyd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55448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Hàm lượng dầu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554480"/>
            <a:ext cx="5486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Đặc điểm &amp; ứng dụng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331720"/>
            <a:ext cx="128016" cy="640080"/>
          </a:xfrm>
          <a:prstGeom prst="roundRect">
            <a:avLst>
              <a:gd name="adj" fmla="val 6000"/>
            </a:avLst>
          </a:prstGeom>
          <a:solidFill>
            <a:srgbClr val="6FA2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194560"/>
            <a:ext cx="2926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4E3D"/>
                </a:solidFill>
                <a:latin typeface="Calibri"/>
              </a:rPr>
              <a:t>Nhựa gầy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194560"/>
            <a:ext cx="1828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FA287"/>
                </a:solidFill>
                <a:latin typeface="Calibri"/>
              </a:rPr>
              <a:t>30–45%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194560"/>
            <a:ext cx="5486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B28"/>
                </a:solidFill>
                <a:latin typeface="Calibri"/>
              </a:rPr>
              <a:t>Chất hóa dẻo, độ nhớt cao — thi công nhúng / phun.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04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337560"/>
            <a:ext cx="128016" cy="640080"/>
          </a:xfrm>
          <a:prstGeom prst="roundRect">
            <a:avLst>
              <a:gd name="adj" fmla="val 6000"/>
            </a:avLst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00400"/>
            <a:ext cx="2926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4E3D"/>
                </a:solidFill>
                <a:latin typeface="Calibri"/>
              </a:rPr>
              <a:t>Nhựa trung bình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200400"/>
            <a:ext cx="1828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C7A5A"/>
                </a:solidFill>
                <a:latin typeface="Calibri"/>
              </a:rPr>
              <a:t>46–55%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200400"/>
            <a:ext cx="5486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B28"/>
                </a:solidFill>
                <a:latin typeface="Calibri"/>
              </a:rPr>
              <a:t>Dùng phổ biến nhất — cọ / lăn / súng phun.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0624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343400"/>
            <a:ext cx="128016" cy="640080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206240"/>
            <a:ext cx="2926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4E3D"/>
                </a:solidFill>
                <a:latin typeface="Calibri"/>
              </a:rPr>
              <a:t>Nhựa béo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206240"/>
            <a:ext cx="1828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4E3D"/>
                </a:solidFill>
                <a:latin typeface="Calibri"/>
              </a:rPr>
              <a:t>56–70%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206240"/>
            <a:ext cx="5486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B28"/>
                </a:solidFill>
                <a:latin typeface="Calibri"/>
              </a:rPr>
              <a:t>Chất tạo màng chính cho sơn tàu biển &amp; kết cấu thép.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C88A2E"/>
                </a:solidFill>
                <a:latin typeface="Calibri"/>
              </a:rPr>
              <a:t>→ </a:t>
            </a:r>
            <a:r>
              <a:rPr sz="1400" b="0" i="1">
                <a:solidFill>
                  <a:srgbClr val="5C6B64"/>
                </a:solidFill>
                <a:latin typeface="Calibri"/>
              </a:rPr>
              <a:t>Sơn tàu biển &amp; kết cấu thép ưu tiên nhựa béo (56–70%) nhờ khả năng tạo màng dày, bám dính và chịu môi trường khắc nghiệt.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64"/>
                </a:solidFill>
                <a:latin typeface="Calibri"/>
              </a:rPr>
              <a:t>Báo cáo thực tập  ·  Công ty TNHH Sơn Hải Vân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C7A5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22" presetClass="entr" presetSubtype="1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" dur="5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" dur="5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180"/>
                      </p:stCondLst>
                      <p:childTnLst>
                        <p:par>
                          <p:cTn id="13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" dur="5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270"/>
                      </p:stCondLst>
                      <p:childTnLst>
                        <p:par>
                          <p:cTn id="17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" dur="5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360"/>
                      </p:stCondLst>
                      <p:childTnLst>
                        <p:par>
                          <p:cTn id="21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" dur="5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22" presetClass="entr" presetSubtype="1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" dur="5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90"/>
                      </p:stCondLst>
                      <p:childTnLst>
                        <p:par>
                          <p:cTn id="2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" dur="5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80"/>
                      </p:stCondLst>
                      <p:childTnLst>
                        <p:par>
                          <p:cTn id="33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5" dur="5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270"/>
                      </p:stCondLst>
                      <p:childTnLst>
                        <p:par>
                          <p:cTn id="37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9" dur="5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360"/>
                      </p:stCondLst>
                      <p:childTnLst>
                        <p:par>
                          <p:cTn id="41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3" dur="5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presetID="22" presetClass="entr" presetSubtype="1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7" dur="5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90"/>
                      </p:stCondLst>
                      <p:childTnLst>
                        <p:par>
                          <p:cTn id="4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180"/>
                      </p:stCondLst>
                      <p:childTnLst>
                        <p:par>
                          <p:cTn id="53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5" dur="5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270"/>
                      </p:stCondLst>
                      <p:childTnLst>
                        <p:par>
                          <p:cTn id="57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9" dur="5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60"/>
                      </p:stCondLst>
                      <p:childTnLst>
                        <p:par>
                          <p:cTn id="61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3" dur="55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C7A5A"/>
                </a:solidFill>
                <a:latin typeface="Calibri"/>
              </a:rPr>
              <a:t>2. NGUYÊN VẬT LIỆU — SƠN TÀU BIỂN</a:t>
            </a:r>
          </a:p>
          <a:p>
            <a:pPr algn="l"/>
            <a:r>
              <a:rPr sz="2700" b="1" i="0">
                <a:solidFill>
                  <a:srgbClr val="1F4E3D"/>
                </a:solidFill>
                <a:latin typeface="Cambria"/>
              </a:rPr>
              <a:t>Cấu trúc hệ sơn 3 lớp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43B53"/>
                </a:solidFill>
                <a:latin typeface="Calibri"/>
              </a:rPr>
              <a:t>↑ Môi trường biển (UV · muối · sóng)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5120640" cy="9144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Lớp 3 — Phủ hoàn thiện</a:t>
            </a:r>
          </a:p>
          <a:p>
            <a:pPr algn="l"/>
            <a:r>
              <a:rPr sz="1300" b="0" i="1">
                <a:solidFill>
                  <a:srgbClr val="ECF3EE"/>
                </a:solidFill>
                <a:latin typeface="Calibri"/>
              </a:rPr>
              <a:t>Polyurethan / Alkyd béo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752344"/>
            <a:ext cx="5120640" cy="1051560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52344"/>
            <a:ext cx="45720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Lớp 2 — Trung gian</a:t>
            </a:r>
          </a:p>
          <a:p>
            <a:pPr algn="l"/>
            <a:r>
              <a:rPr sz="1300" b="0" i="1">
                <a:solidFill>
                  <a:srgbClr val="ECF3EE"/>
                </a:solidFill>
                <a:latin typeface="Calibri"/>
              </a:rPr>
              <a:t>Epoxy MIO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858768"/>
            <a:ext cx="5120640" cy="9144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58768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Lớp 1 — Lót chống rỉ</a:t>
            </a:r>
          </a:p>
          <a:p>
            <a:pPr algn="l"/>
            <a:r>
              <a:rPr sz="1300" b="0" i="1">
                <a:solidFill>
                  <a:srgbClr val="ECF3EE"/>
                </a:solidFill>
                <a:latin typeface="Calibri"/>
              </a:rPr>
              <a:t>Epoxy giàu kẽm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828031"/>
            <a:ext cx="5120640" cy="566928"/>
          </a:xfrm>
          <a:prstGeom prst="rect">
            <a:avLst/>
          </a:prstGeom>
          <a:solidFill>
            <a:srgbClr val="4A4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28031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THÉP NỀN (đã xử lý bề mặt)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83080"/>
            <a:ext cx="5303520" cy="123444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C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56248" y="2002536"/>
            <a:ext cx="365760" cy="36576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1929384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4E3D"/>
                </a:solidFill>
                <a:latin typeface="Calibri"/>
              </a:rPr>
              <a:t>Lớp phủ (Topcoat)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350008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B28"/>
                </a:solidFill>
                <a:latin typeface="Calibri"/>
              </a:rPr>
              <a:t>Chịu tia UV, giữ màu và giữ độ bóng khi tiếp xúc nắng, gió biển.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136391"/>
            <a:ext cx="5303520" cy="123444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2C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6248" y="3355848"/>
            <a:ext cx="365760" cy="36576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3282696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4E3D"/>
                </a:solidFill>
                <a:latin typeface="Calibri"/>
              </a:rPr>
              <a:t>Lớp trung gian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703320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B28"/>
                </a:solidFill>
                <a:latin typeface="Calibri"/>
              </a:rPr>
              <a:t>Tăng chiều dày màng, chắn ẩm và ion clorua xâm nhập vào trong.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4489704"/>
            <a:ext cx="5303520" cy="123444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1F4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56248" y="4709160"/>
            <a:ext cx="365760" cy="36576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463600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4E3D"/>
                </a:solidFill>
                <a:latin typeface="Calibri"/>
              </a:rPr>
              <a:t>Lớp lót (Primer)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5056632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B28"/>
                </a:solidFill>
                <a:latin typeface="Calibri"/>
              </a:rPr>
              <a:t>Bám trực tiếp lên thép, bảo vệ điện hóa chống ăn mòn từ gốc.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4476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250" b="0" i="0">
                <a:solidFill>
                  <a:srgbClr val="5C6B64"/>
                </a:solidFill>
                <a:latin typeface="Calibri"/>
              </a:rPr>
              <a:t>Lưu ý: số lớp / độ dày thực tế của Sơn Hải Vân cần đối chiếu — đây là cấu trúc theo nguyên lý chung ngành sơn bảo vệ tàu biển.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C7A5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90"/>
                      </p:stCondLst>
                      <p:childTnLst>
                        <p:par>
                          <p:cTn id="1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presetID="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90"/>
                      </p:stCondLst>
                      <p:childTnLst>
                        <p:par>
                          <p:cTn id="2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3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8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90"/>
                      </p:stCondLst>
                      <p:childTnLst>
                        <p:par>
                          <p:cTn id="3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3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presetID="2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7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90"/>
                      </p:stCondLst>
                      <p:childTnLst>
                        <p:par>
                          <p:cTn id="39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presetID="2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5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6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90"/>
                      </p:stCondLst>
                      <p:childTnLst>
                        <p:par>
                          <p:cTn id="48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0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1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180"/>
                      </p:stCondLst>
                      <p:childTnLst>
                        <p:par>
                          <p:cTn id="53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5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6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270"/>
                      </p:stCondLst>
                      <p:childTnLst>
                        <p:par>
                          <p:cTn id="58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0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1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presetID="2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5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6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90"/>
                      </p:stCondLst>
                      <p:childTnLst>
                        <p:par>
                          <p:cTn id="68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0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1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180"/>
                      </p:stCondLst>
                      <p:childTnLst>
                        <p:par>
                          <p:cTn id="73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5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6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270"/>
                      </p:stCondLst>
                      <p:childTnLst>
                        <p:par>
                          <p:cTn id="78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80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1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presetID="2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85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90"/>
                      </p:stCondLst>
                      <p:childTnLst>
                        <p:par>
                          <p:cTn id="88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90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91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180"/>
                      </p:stCondLst>
                      <p:childTnLst>
                        <p:par>
                          <p:cTn id="93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95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96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270"/>
                      </p:stCondLst>
                      <p:childTnLst>
                        <p:par>
                          <p:cTn id="98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0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1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1005840"/>
            <a:ext cx="2743200" cy="2743200"/>
          </a:xfrm>
          <a:prstGeom prst="ellipse">
            <a:avLst/>
          </a:prstGeom>
          <a:solidFill>
            <a:srgbClr val="18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011680"/>
            <a:ext cx="1371600" cy="137160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011680"/>
            <a:ext cx="8778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FA287"/>
                </a:solidFill>
                <a:latin typeface="Calibri"/>
              </a:rPr>
              <a:t>PHẦN 3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Quy trình công nghệ &amp; thiết bị</a:t>
            </a:r>
          </a:p>
          <a:p>
            <a:pPr algn="l"/>
            <a:r>
              <a:rPr sz="1500" b="0" i="0">
                <a:solidFill>
                  <a:srgbClr val="6FA287"/>
                </a:solidFill>
                <a:latin typeface="Calibri"/>
              </a:rPr>
              <a:t>Trình tự công đoạn · thời gian · thiết bị chính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160520"/>
            <a:ext cx="548640" cy="1417320"/>
          </a:xfrm>
          <a:prstGeom prst="roundRect">
            <a:avLst>
              <a:gd name="adj" fmla="val 12000"/>
            </a:avLst>
          </a:prstGeom>
          <a:solidFill>
            <a:srgbClr val="8C3B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66760" y="4306824"/>
            <a:ext cx="548640" cy="1417320"/>
          </a:xfrm>
          <a:prstGeom prst="roundRect">
            <a:avLst>
              <a:gd name="adj" fmla="val 12000"/>
            </a:avLst>
          </a:prstGeom>
          <a:solidFill>
            <a:srgbClr val="B56A3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15400" y="4160520"/>
            <a:ext cx="548640" cy="1417320"/>
          </a:xfrm>
          <a:prstGeom prst="roundRect">
            <a:avLst>
              <a:gd name="adj" fmla="val 12000"/>
            </a:avLst>
          </a:prstGeom>
          <a:solidFill>
            <a:srgbClr val="4A4F5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64040" y="4306824"/>
            <a:ext cx="548640" cy="1417320"/>
          </a:xfrm>
          <a:prstGeom prst="roundRect">
            <a:avLst>
              <a:gd name="adj" fmla="val 12000"/>
            </a:avLst>
          </a:prstGeom>
          <a:solidFill>
            <a:srgbClr val="1F4E3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12680" y="4160520"/>
            <a:ext cx="548640" cy="1417320"/>
          </a:xfrm>
          <a:prstGeom prst="roundRect">
            <a:avLst>
              <a:gd name="adj" fmla="val 12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61320" y="4306824"/>
            <a:ext cx="548640" cy="1417320"/>
          </a:xfrm>
          <a:prstGeom prst="roundRect">
            <a:avLst>
              <a:gd name="adj" fmla="val 12000"/>
            </a:avLst>
          </a:prstGeom>
          <a:solidFill>
            <a:srgbClr val="2E6E6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2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180"/>
                      </p:stCondLst>
                      <p:childTnLst>
                        <p:par>
                          <p:cTn id="13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270"/>
                      </p:stCondLst>
                      <p:childTnLst>
                        <p:par>
                          <p:cTn id="17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360"/>
                      </p:stCondLst>
                      <p:childTnLst>
                        <p:par>
                          <p:cTn id="21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450"/>
                      </p:stCondLst>
                      <p:childTnLst>
                        <p:par>
                          <p:cTn id="25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C7A5A"/>
                </a:solidFill>
                <a:latin typeface="Calibri"/>
              </a:rPr>
              <a:t>3. QUY TRÌNH CÔNG NGHỆ</a:t>
            </a:r>
          </a:p>
          <a:p>
            <a:pPr algn="l"/>
            <a:r>
              <a:rPr sz="2700" b="1" i="0">
                <a:solidFill>
                  <a:srgbClr val="1F4E3D"/>
                </a:solidFill>
                <a:latin typeface="Cambria"/>
              </a:rPr>
              <a:t>Sáu công đoạn sản xuất sơn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600200" cy="155448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6988" y="2487168"/>
            <a:ext cx="603504" cy="603504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6988" y="248716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82112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F4E3D"/>
                </a:solidFill>
                <a:latin typeface="Calibri"/>
              </a:rPr>
              <a:t>Định lượng</a:t>
            </a:r>
          </a:p>
        </p:txBody>
      </p:sp>
      <p:sp>
        <p:nvSpPr>
          <p:cNvPr id="10" name="Chevron 9"/>
          <p:cNvSpPr/>
          <p:nvPr/>
        </p:nvSpPr>
        <p:spPr>
          <a:xfrm>
            <a:off x="2130552" y="2834640"/>
            <a:ext cx="292608" cy="457200"/>
          </a:xfrm>
          <a:prstGeom prst="chevron">
            <a:avLst/>
          </a:prstGeom>
          <a:solidFill>
            <a:srgbClr val="6FA2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04872" y="2286000"/>
            <a:ext cx="1600200" cy="155448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03220" y="2487168"/>
            <a:ext cx="603504" cy="603504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3220" y="248716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3182112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F4E3D"/>
                </a:solidFill>
                <a:latin typeface="Calibri"/>
              </a:rPr>
              <a:t>Đánh paste</a:t>
            </a:r>
          </a:p>
        </p:txBody>
      </p:sp>
      <p:sp>
        <p:nvSpPr>
          <p:cNvPr id="15" name="Chevron 14"/>
          <p:cNvSpPr/>
          <p:nvPr/>
        </p:nvSpPr>
        <p:spPr>
          <a:xfrm>
            <a:off x="3986784" y="2834640"/>
            <a:ext cx="292608" cy="457200"/>
          </a:xfrm>
          <a:prstGeom prst="chevron">
            <a:avLst/>
          </a:prstGeom>
          <a:solidFill>
            <a:srgbClr val="6FA2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61104" y="2286000"/>
            <a:ext cx="1600200" cy="1554480"/>
          </a:xfrm>
          <a:prstGeom prst="roundRect">
            <a:avLst>
              <a:gd name="adj" fmla="val 6000"/>
            </a:avLst>
          </a:prstGeom>
          <a:solidFill>
            <a:srgbClr val="FBF3E4"/>
          </a:solidFill>
          <a:ln w="12700">
            <a:solidFill>
              <a:srgbClr val="E7D5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9452" y="2487168"/>
            <a:ext cx="603504" cy="603504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9452" y="248716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544" y="3182112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F4E3D"/>
                </a:solidFill>
                <a:latin typeface="Calibri"/>
              </a:rPr>
              <a:t>Nghiền mịn</a:t>
            </a:r>
          </a:p>
        </p:txBody>
      </p:sp>
      <p:sp>
        <p:nvSpPr>
          <p:cNvPr id="20" name="Chevron 19"/>
          <p:cNvSpPr/>
          <p:nvPr/>
        </p:nvSpPr>
        <p:spPr>
          <a:xfrm>
            <a:off x="5843016" y="2834640"/>
            <a:ext cx="292608" cy="457200"/>
          </a:xfrm>
          <a:prstGeom prst="chevron">
            <a:avLst/>
          </a:prstGeom>
          <a:solidFill>
            <a:srgbClr val="6FA2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17336" y="2286000"/>
            <a:ext cx="1600200" cy="155448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15684" y="2487168"/>
            <a:ext cx="603504" cy="603504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5684" y="248716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8776" y="3182112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F4E3D"/>
                </a:solidFill>
                <a:latin typeface="Calibri"/>
              </a:rPr>
              <a:t>Ngâm ủ</a:t>
            </a:r>
          </a:p>
        </p:txBody>
      </p:sp>
      <p:sp>
        <p:nvSpPr>
          <p:cNvPr id="25" name="Chevron 24"/>
          <p:cNvSpPr/>
          <p:nvPr/>
        </p:nvSpPr>
        <p:spPr>
          <a:xfrm>
            <a:off x="7699248" y="2834640"/>
            <a:ext cx="292608" cy="457200"/>
          </a:xfrm>
          <a:prstGeom prst="chevron">
            <a:avLst/>
          </a:prstGeom>
          <a:solidFill>
            <a:srgbClr val="6FA2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73568" y="2286000"/>
            <a:ext cx="1600200" cy="155448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71916" y="2487168"/>
            <a:ext cx="603504" cy="603504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1916" y="248716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3182112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F4E3D"/>
                </a:solidFill>
                <a:latin typeface="Calibri"/>
              </a:rPr>
              <a:t>Pha loãng</a:t>
            </a:r>
          </a:p>
        </p:txBody>
      </p:sp>
      <p:sp>
        <p:nvSpPr>
          <p:cNvPr id="30" name="Chevron 29"/>
          <p:cNvSpPr/>
          <p:nvPr/>
        </p:nvSpPr>
        <p:spPr>
          <a:xfrm>
            <a:off x="9555480" y="2834640"/>
            <a:ext cx="292608" cy="457200"/>
          </a:xfrm>
          <a:prstGeom prst="chevron">
            <a:avLst/>
          </a:prstGeom>
          <a:solidFill>
            <a:srgbClr val="6FA2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829800" y="2286000"/>
            <a:ext cx="1600200" cy="155448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28148" y="2487168"/>
            <a:ext cx="603504" cy="603504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28148" y="248716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3182112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F4E3D"/>
                </a:solidFill>
                <a:latin typeface="Calibri"/>
              </a:rPr>
              <a:t>Lọc &amp; đóng gói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297680"/>
            <a:ext cx="11109960" cy="155448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48056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1" i="0">
                <a:solidFill>
                  <a:srgbClr val="1F4E3D"/>
                </a:solidFill>
                <a:latin typeface="Calibri"/>
              </a:rPr>
              <a:t>Nguyên tắc thứ tự: </a:t>
            </a:r>
            <a:r>
              <a:rPr sz="1400" b="0" i="0">
                <a:solidFill>
                  <a:srgbClr val="222B28"/>
                </a:solidFill>
                <a:latin typeface="Calibri"/>
              </a:rPr>
              <a:t>Định lượng → phân tán (paste) → nghiền → ủ → pha loãng → lọc. Không thể đảo bước vì mỗi công đoạn là đầu vào của công đoạn sau.</a:t>
            </a:r>
          </a:p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9A661E"/>
                </a:solidFill>
                <a:latin typeface="Calibri"/>
              </a:rPr>
              <a:t>Bước có thể bỏ qua (màu cam): </a:t>
            </a:r>
            <a:r>
              <a:rPr sz="1400" b="0" i="0">
                <a:solidFill>
                  <a:srgbClr val="222B28"/>
                </a:solidFill>
                <a:latin typeface="Calibri"/>
              </a:rPr>
              <a:t>Nghiền mịn — nếu mẻ đã đạt độ mịn Hegman ngay sau khi đánh paste thì bỏ qua để tiết kiệm thời gian &amp; năng lượng.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64"/>
                </a:solidFill>
                <a:latin typeface="Calibri"/>
              </a:rPr>
              <a:t>Báo cáo thực tập  ·  Công ty TNHH Sơn Hải Vân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C7A5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90"/>
                      </p:stCondLst>
                      <p:childTnLst>
                        <p:par>
                          <p:cTn id="1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270"/>
                      </p:stCondLst>
                      <p:childTnLst>
                        <p:par>
                          <p:cTn id="2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3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8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90"/>
                      </p:stCondLst>
                      <p:childTnLst>
                        <p:par>
                          <p:cTn id="3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3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180"/>
                      </p:stCondLst>
                      <p:childTnLst>
                        <p:par>
                          <p:cTn id="3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8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270"/>
                      </p:stCondLst>
                      <p:childTnLst>
                        <p:par>
                          <p:cTn id="4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3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presetID="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90"/>
                      </p:stCondLst>
                      <p:childTnLst>
                        <p:par>
                          <p:cTn id="5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3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180"/>
                      </p:stCondLst>
                      <p:childTnLst>
                        <p:par>
                          <p:cTn id="5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8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270"/>
                      </p:stCondLst>
                      <p:childTnLst>
                        <p:par>
                          <p:cTn id="6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3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presetID="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8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90"/>
                      </p:stCondLst>
                      <p:childTnLst>
                        <p:par>
                          <p:cTn id="7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3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180"/>
                      </p:stCondLst>
                      <p:childTnLst>
                        <p:par>
                          <p:cTn id="7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8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270"/>
                      </p:stCondLst>
                      <p:childTnLst>
                        <p:par>
                          <p:cTn id="8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8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3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presetID="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8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8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90"/>
                      </p:stCondLst>
                      <p:childTnLst>
                        <p:par>
                          <p:cTn id="9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9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93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180"/>
                      </p:stCondLst>
                      <p:childTnLst>
                        <p:par>
                          <p:cTn id="9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9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98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270"/>
                      </p:stCondLst>
                      <p:childTnLst>
                        <p:par>
                          <p:cTn id="10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3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presetID="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8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90"/>
                      </p:stCondLst>
                      <p:childTnLst>
                        <p:par>
                          <p:cTn id="11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3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180"/>
                      </p:stCondLst>
                      <p:childTnLst>
                        <p:par>
                          <p:cTn id="11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8" dur="5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C7A5A"/>
                </a:solidFill>
                <a:latin typeface="Calibri"/>
              </a:rPr>
              <a:t>3. QUY TRÌNH — CHI TIẾT TỪNG BƯỚC</a:t>
            </a:r>
          </a:p>
          <a:p>
            <a:pPr algn="l"/>
            <a:r>
              <a:rPr sz="2700" b="1" i="0">
                <a:solidFill>
                  <a:srgbClr val="1F4E3D"/>
                </a:solidFill>
                <a:latin typeface="Cambria"/>
              </a:rPr>
              <a:t>Vai trò · thời gian · có bỏ qua được không?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109960" cy="749808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591056"/>
            <a:ext cx="411480" cy="41148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9105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453896"/>
            <a:ext cx="1965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4E3D"/>
                </a:solidFill>
                <a:latin typeface="Calibri"/>
              </a:rPr>
              <a:t>Định lượng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499616"/>
            <a:ext cx="6035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B28"/>
                </a:solidFill>
                <a:latin typeface="Calibri"/>
              </a:rPr>
              <a:t>Cân đúng tỷ lệ nhựa / dung môi / phụ gia / bột màu.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0" y="1600200"/>
            <a:ext cx="1508760" cy="393192"/>
          </a:xfrm>
          <a:prstGeom prst="roundRect">
            <a:avLst>
              <a:gd name="adj" fmla="val 6000"/>
            </a:avLst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0" y="1600200"/>
            <a:ext cx="150876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Bắt buộc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837944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C7A5A"/>
                </a:solidFill>
                <a:latin typeface="Calibri"/>
              </a:rPr>
              <a:t>Thời gian: </a:t>
            </a:r>
            <a:r>
              <a:rPr sz="1250" b="0" i="0">
                <a:solidFill>
                  <a:srgbClr val="5C6B64"/>
                </a:solidFill>
                <a:latin typeface="Calibri"/>
              </a:rPr>
              <a:t>Theo công thức R&amp;D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85416"/>
            <a:ext cx="111099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2359152"/>
            <a:ext cx="411480" cy="41148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35915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2221992"/>
            <a:ext cx="1965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4E3D"/>
                </a:solidFill>
                <a:latin typeface="Calibri"/>
              </a:rPr>
              <a:t>Đánh paste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267712"/>
            <a:ext cx="6035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B28"/>
                </a:solidFill>
                <a:latin typeface="Calibri"/>
              </a:rPr>
              <a:t>Khuấy phân tán 900–1200 v/p, hòa bột màu/độn vào nhựa.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66960" y="2368296"/>
            <a:ext cx="1508760" cy="393192"/>
          </a:xfrm>
          <a:prstGeom prst="roundRect">
            <a:avLst>
              <a:gd name="adj" fmla="val 6000"/>
            </a:avLst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2368296"/>
            <a:ext cx="150876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Bắt buộc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60604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C7A5A"/>
                </a:solidFill>
                <a:latin typeface="Calibri"/>
              </a:rPr>
              <a:t>Thời gian: </a:t>
            </a:r>
            <a:r>
              <a:rPr sz="1250" b="0" i="0">
                <a:solidFill>
                  <a:srgbClr val="5C6B64"/>
                </a:solidFill>
                <a:latin typeface="Calibri"/>
              </a:rPr>
              <a:t>Vài chục phút/mẻ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953512"/>
            <a:ext cx="11109960" cy="749808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3232" y="3127248"/>
            <a:ext cx="411480" cy="41148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12724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2990088"/>
            <a:ext cx="1965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4E3D"/>
                </a:solidFill>
                <a:latin typeface="Calibri"/>
              </a:rPr>
              <a:t>Nghiền mịn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3035808"/>
            <a:ext cx="6035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B28"/>
                </a:solidFill>
                <a:latin typeface="Calibri"/>
              </a:rPr>
              <a:t>Bi nghiền tạo va đập, đưa hạt xuống 10–20 µm.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3136392"/>
            <a:ext cx="1508760" cy="393192"/>
          </a:xfrm>
          <a:prstGeom prst="roundRect">
            <a:avLst>
              <a:gd name="adj" fmla="val 6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3136392"/>
            <a:ext cx="150876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Có thể bỏ qua¹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374136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C7A5A"/>
                </a:solidFill>
                <a:latin typeface="Calibri"/>
              </a:rPr>
              <a:t>Thời gian: </a:t>
            </a:r>
            <a:r>
              <a:rPr sz="1250" b="0" i="0">
                <a:solidFill>
                  <a:srgbClr val="5C6B64"/>
                </a:solidFill>
                <a:latin typeface="Calibri"/>
              </a:rPr>
              <a:t>Đến khi đạt độ mịn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721608"/>
            <a:ext cx="111099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3232" y="3895344"/>
            <a:ext cx="411480" cy="411480"/>
          </a:xfrm>
          <a:prstGeom prst="ellipse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3895344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3758184"/>
            <a:ext cx="1965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4E3D"/>
                </a:solidFill>
                <a:latin typeface="Calibri"/>
              </a:rPr>
              <a:t>Ngâm 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3803904"/>
            <a:ext cx="6035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B28"/>
                </a:solidFill>
                <a:latin typeface="Calibri"/>
              </a:rPr>
              <a:t>Giữ yên cho hệ ổn định, giảm bọt khí (sơn Epoxy/PU).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3904488"/>
            <a:ext cx="1508760" cy="393192"/>
          </a:xfrm>
          <a:prstGeom prst="roundRect">
            <a:avLst>
              <a:gd name="adj" fmla="val 6000"/>
            </a:avLst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3904488"/>
            <a:ext cx="150876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Linh hoạt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414223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C7A5A"/>
                </a:solidFill>
                <a:latin typeface="Calibri"/>
              </a:rPr>
              <a:t>Thời gian: </a:t>
            </a:r>
            <a:r>
              <a:rPr sz="1250" b="0" i="0">
                <a:solidFill>
                  <a:srgbClr val="5C6B64"/>
                </a:solidFill>
                <a:latin typeface="Calibri"/>
              </a:rPr>
              <a:t>Vài giờ tùy loại sơn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489704"/>
            <a:ext cx="11109960" cy="749808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13232" y="4663440"/>
            <a:ext cx="411480" cy="41148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466344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4526280"/>
            <a:ext cx="1965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4E3D"/>
                </a:solidFill>
                <a:latin typeface="Calibri"/>
              </a:rPr>
              <a:t>Pha loãng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6120" y="4572000"/>
            <a:ext cx="6035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B28"/>
                </a:solidFill>
                <a:latin typeface="Calibri"/>
              </a:rPr>
              <a:t>Chỉnh độ nhớt (KU) về thông số — quyết định độ phủ.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66960" y="4672584"/>
            <a:ext cx="1508760" cy="393192"/>
          </a:xfrm>
          <a:prstGeom prst="roundRect">
            <a:avLst>
              <a:gd name="adj" fmla="val 6000"/>
            </a:avLst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66960" y="4672584"/>
            <a:ext cx="150876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Bắt buộc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120" y="491032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C7A5A"/>
                </a:solidFill>
                <a:latin typeface="Calibri"/>
              </a:rPr>
              <a:t>Thời gian: </a:t>
            </a:r>
            <a:r>
              <a:rPr sz="1250" b="0" i="0">
                <a:solidFill>
                  <a:srgbClr val="5C6B64"/>
                </a:solidFill>
                <a:latin typeface="Calibri"/>
              </a:rPr>
              <a:t>Đến khi đạt độ nhớt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257800"/>
            <a:ext cx="111099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13232" y="5431536"/>
            <a:ext cx="411480" cy="41148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543153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98448" y="5294376"/>
            <a:ext cx="1965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4E3D"/>
                </a:solidFill>
                <a:latin typeface="Calibri"/>
              </a:rPr>
              <a:t>Lọc &amp; đóng gói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46120" y="5340096"/>
            <a:ext cx="6035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B28"/>
                </a:solidFill>
                <a:latin typeface="Calibri"/>
              </a:rPr>
              <a:t>Loại tạp chất/hạt vón trước khi xuất xưởng.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66960" y="5440680"/>
            <a:ext cx="1508760" cy="393192"/>
          </a:xfrm>
          <a:prstGeom prst="roundRect">
            <a:avLst>
              <a:gd name="adj" fmla="val 6000"/>
            </a:avLst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66960" y="5440680"/>
            <a:ext cx="150876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Bắt buộc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46120" y="5678424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C7A5A"/>
                </a:solidFill>
                <a:latin typeface="Calibri"/>
              </a:rPr>
              <a:t>Thời gian: </a:t>
            </a:r>
            <a:r>
              <a:rPr sz="1250" b="0" i="0">
                <a:solidFill>
                  <a:srgbClr val="5C6B64"/>
                </a:solidFill>
                <a:latin typeface="Calibri"/>
              </a:rPr>
              <a:t>Bước cuối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1447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C6B64"/>
                </a:solidFill>
                <a:latin typeface="Calibri"/>
              </a:rPr>
              <a:t>(1) Bỏ qua nghiền mịn khi kiểm tra Hegman cho thấy mẻ đã đạt độ mịn chuẩn ngay sau bước đánh paste.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C7A5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22" presetClass="entr" presetSubtype="1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" dur="5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" dur="5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180"/>
                      </p:stCondLst>
                      <p:childTnLst>
                        <p:par>
                          <p:cTn id="13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" dur="5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270"/>
                      </p:stCondLst>
                      <p:childTnLst>
                        <p:par>
                          <p:cTn id="17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" dur="5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360"/>
                      </p:stCondLst>
                      <p:childTnLst>
                        <p:par>
                          <p:cTn id="21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" dur="5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450"/>
                      </p:stCondLst>
                      <p:childTnLst>
                        <p:par>
                          <p:cTn id="25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" dur="5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40"/>
                      </p:stCondLst>
                      <p:childTnLst>
                        <p:par>
                          <p:cTn id="2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" dur="5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presetID="22" presetClass="entr" presetSubtype="1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5" dur="5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90"/>
                      </p:stCondLst>
                      <p:childTnLst>
                        <p:par>
                          <p:cTn id="37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9" dur="5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80"/>
                      </p:stCondLst>
                      <p:childTnLst>
                        <p:par>
                          <p:cTn id="41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3" dur="5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270"/>
                      </p:stCondLst>
                      <p:childTnLst>
                        <p:par>
                          <p:cTn id="45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7" dur="5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360"/>
                      </p:stCondLst>
                      <p:childTnLst>
                        <p:par>
                          <p:cTn id="4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450"/>
                      </p:stCondLst>
                      <p:childTnLst>
                        <p:par>
                          <p:cTn id="53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5" dur="5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540"/>
                      </p:stCondLst>
                      <p:childTnLst>
                        <p:par>
                          <p:cTn id="57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9" dur="5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presetID="22" presetClass="entr" presetSubtype="1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3" dur="5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90"/>
                      </p:stCondLst>
                      <p:childTnLst>
                        <p:par>
                          <p:cTn id="65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7" dur="5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180"/>
                      </p:stCondLst>
                      <p:childTnLst>
                        <p:par>
                          <p:cTn id="6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5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270"/>
                      </p:stCondLst>
                      <p:childTnLst>
                        <p:par>
                          <p:cTn id="73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5" dur="55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360"/>
                      </p:stCondLst>
                      <p:childTnLst>
                        <p:par>
                          <p:cTn id="77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9" dur="55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450"/>
                      </p:stCondLst>
                      <p:childTnLst>
                        <p:par>
                          <p:cTn id="81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3" dur="55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540"/>
                      </p:stCondLst>
                      <p:childTnLst>
                        <p:par>
                          <p:cTn id="85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7" dur="55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presetID="22" presetClass="entr" presetSubtype="1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5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90"/>
                      </p:stCondLst>
                      <p:childTnLst>
                        <p:par>
                          <p:cTn id="93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5" dur="55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180"/>
                      </p:stCondLst>
                      <p:childTnLst>
                        <p:par>
                          <p:cTn id="97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9" dur="55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270"/>
                      </p:stCondLst>
                      <p:childTnLst>
                        <p:par>
                          <p:cTn id="101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3" dur="55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360"/>
                      </p:stCondLst>
                      <p:childTnLst>
                        <p:par>
                          <p:cTn id="105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7" dur="55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450"/>
                      </p:stCondLst>
                      <p:childTnLst>
                        <p:par>
                          <p:cTn id="10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5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540"/>
                      </p:stCondLst>
                      <p:childTnLst>
                        <p:par>
                          <p:cTn id="113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5" dur="55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presetID="22" presetClass="entr" presetSubtype="1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9" dur="55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90"/>
                      </p:stCondLst>
                      <p:childTnLst>
                        <p:par>
                          <p:cTn id="121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3" dur="55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180"/>
                      </p:stCondLst>
                      <p:childTnLst>
                        <p:par>
                          <p:cTn id="125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7" dur="55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270"/>
                      </p:stCondLst>
                      <p:childTnLst>
                        <p:par>
                          <p:cTn id="12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5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360"/>
                      </p:stCondLst>
                      <p:childTnLst>
                        <p:par>
                          <p:cTn id="133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5" dur="55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450"/>
                      </p:stCondLst>
                      <p:childTnLst>
                        <p:par>
                          <p:cTn id="137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9" dur="55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540"/>
                      </p:stCondLst>
                      <p:childTnLst>
                        <p:par>
                          <p:cTn id="141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3" dur="55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presetID="22" presetClass="entr" presetSubtype="1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7" dur="55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90"/>
                      </p:stCondLst>
                      <p:childTnLst>
                        <p:par>
                          <p:cTn id="14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5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180"/>
                      </p:stCondLst>
                      <p:childTnLst>
                        <p:par>
                          <p:cTn id="153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5" dur="55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270"/>
                      </p:stCondLst>
                      <p:childTnLst>
                        <p:par>
                          <p:cTn id="157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9" dur="55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360"/>
                      </p:stCondLst>
                      <p:childTnLst>
                        <p:par>
                          <p:cTn id="161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3" dur="55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450"/>
                      </p:stCondLst>
                      <p:childTnLst>
                        <p:par>
                          <p:cTn id="165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7" dur="550"/>
                                  <p:tgtEl>
                                    <p:spTgt spid="5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540"/>
                      </p:stCondLst>
                      <p:childTnLst>
                        <p:par>
                          <p:cTn id="16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50"/>
                                  <p:tgtEl>
                                    <p:spTgt spid="5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C7A5A"/>
                </a:solidFill>
                <a:latin typeface="Calibri"/>
              </a:rPr>
              <a:t>3. THIẾT BỊ SẢN XUẤT CHÍNH</a:t>
            </a:r>
          </a:p>
          <a:p>
            <a:pPr algn="l"/>
            <a:r>
              <a:rPr sz="2700" b="1" i="0">
                <a:solidFill>
                  <a:srgbClr val="1F4E3D"/>
                </a:solidFill>
                <a:latin typeface="Cambria"/>
              </a:rPr>
              <a:t>Cấu tạo · nguyên lý · vận hành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611880" cy="461772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611880" cy="822960"/>
          </a:xfrm>
          <a:prstGeom prst="roundRect">
            <a:avLst>
              <a:gd name="adj" fmla="val 6000"/>
            </a:avLst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611880" cy="365760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3154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Máy đánh paste</a:t>
            </a:r>
          </a:p>
          <a:p>
            <a:pPr algn="l"/>
            <a:r>
              <a:rPr sz="1300" b="0" i="0">
                <a:solidFill>
                  <a:srgbClr val="E9F2EC"/>
                </a:solidFill>
                <a:latin typeface="Calibri"/>
              </a:rPr>
              <a:t>Mã: ĐP01B</a:t>
            </a:r>
          </a:p>
        </p:txBody>
      </p:sp>
      <p:pic>
        <p:nvPicPr>
          <p:cNvPr id="10" name="Picture 9" descr="eq_mixer.jpg"/>
          <p:cNvPicPr>
            <a:picLocks noChangeAspect="1"/>
          </p:cNvPicPr>
          <p:nvPr/>
        </p:nvPicPr>
        <p:blipFill>
          <a:blip r:embed="rId2"/>
          <a:srcRect t="33020" b="33020"/>
          <a:stretch>
            <a:fillRect/>
          </a:stretch>
        </p:blipFill>
        <p:spPr>
          <a:xfrm>
            <a:off x="713232" y="2395728"/>
            <a:ext cx="3282696" cy="1280160"/>
          </a:xfrm>
          <a:prstGeom prst="rect">
            <a:avLst/>
          </a:prstGeom>
          <a:ln w="25400">
            <a:solidFill>
              <a:srgbClr val="FFFFFF"/>
            </a:solidFill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749808" y="3794760"/>
            <a:ext cx="320954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C7A5A"/>
                </a:solidFill>
                <a:latin typeface="Calibri"/>
              </a:rPr>
              <a:t>Cấu tạo: </a:t>
            </a:r>
            <a:r>
              <a:rPr sz="1350" b="0" i="0">
                <a:solidFill>
                  <a:srgbClr val="222B28"/>
                </a:solidFill>
                <a:latin typeface="Calibri"/>
              </a:rPr>
              <a:t>Động cơ 5–20 HP, trục &amp; cánh khuấy inox 304, bồn inox.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553712"/>
            <a:ext cx="320954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C7A5A"/>
                </a:solidFill>
                <a:latin typeface="Calibri"/>
              </a:rPr>
              <a:t>Nguyên lý: </a:t>
            </a:r>
            <a:r>
              <a:rPr sz="1350" b="0" i="0">
                <a:solidFill>
                  <a:srgbClr val="222B28"/>
                </a:solidFill>
                <a:latin typeface="Calibri"/>
              </a:rPr>
              <a:t>Quay 900–1200 v/p tạo lực cắt, phân tán bột màu/độn vào nhựa.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312664"/>
            <a:ext cx="320954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C7A5A"/>
                </a:solidFill>
                <a:latin typeface="Calibri"/>
              </a:rPr>
              <a:t>Thao tác: </a:t>
            </a:r>
            <a:r>
              <a:rPr sz="1350" b="0" i="0">
                <a:solidFill>
                  <a:srgbClr val="222B28"/>
                </a:solidFill>
                <a:latin typeface="Calibri"/>
              </a:rPr>
              <a:t>Hạ cánh khuấy ngập paste, tăng tốc dần, kiểm soát nhiệt.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1463040"/>
            <a:ext cx="3611880" cy="461772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16552" y="1463040"/>
            <a:ext cx="3611880" cy="822960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6552" y="1920240"/>
            <a:ext cx="3611880" cy="3657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1463040"/>
            <a:ext cx="3154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Máy nghiền mịn</a:t>
            </a:r>
          </a:p>
          <a:p>
            <a:pPr algn="l"/>
            <a:r>
              <a:rPr sz="1300" b="0" i="0">
                <a:solidFill>
                  <a:srgbClr val="E9F2EC"/>
                </a:solidFill>
                <a:latin typeface="Calibri"/>
              </a:rPr>
              <a:t>Mã: NM06</a:t>
            </a:r>
          </a:p>
        </p:txBody>
      </p:sp>
      <p:pic>
        <p:nvPicPr>
          <p:cNvPr id="18" name="Picture 17" descr="eq_mill.jpg"/>
          <p:cNvPicPr>
            <a:picLocks noChangeAspect="1"/>
          </p:cNvPicPr>
          <p:nvPr/>
        </p:nvPicPr>
        <p:blipFill>
          <a:blip r:embed="rId3"/>
          <a:srcRect t="25041" b="25041"/>
          <a:stretch>
            <a:fillRect/>
          </a:stretch>
        </p:blipFill>
        <p:spPr>
          <a:xfrm>
            <a:off x="4581144" y="2395728"/>
            <a:ext cx="3282696" cy="1280160"/>
          </a:xfrm>
          <a:prstGeom prst="rect">
            <a:avLst/>
          </a:prstGeom>
          <a:ln w="25400">
            <a:solidFill>
              <a:srgbClr val="FFFFFF"/>
            </a:solidFill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4617720" y="3794760"/>
            <a:ext cx="320954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4E3D"/>
                </a:solidFill>
                <a:latin typeface="Calibri"/>
              </a:rPr>
              <a:t>Cấu tạo: </a:t>
            </a:r>
            <a:r>
              <a:rPr sz="1350" b="0" i="0">
                <a:solidFill>
                  <a:srgbClr val="222B28"/>
                </a:solidFill>
                <a:latin typeface="Calibri"/>
              </a:rPr>
              <a:t>Động cơ 30–60 HP, rổ nghiền inox chứa bi sứ/thủy tinh.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553712"/>
            <a:ext cx="320954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4E3D"/>
                </a:solidFill>
                <a:latin typeface="Calibri"/>
              </a:rPr>
              <a:t>Nguyên lý: </a:t>
            </a:r>
            <a:r>
              <a:rPr sz="1350" b="0" i="0">
                <a:solidFill>
                  <a:srgbClr val="222B28"/>
                </a:solidFill>
                <a:latin typeface="Calibri"/>
              </a:rPr>
              <a:t>Va đập + ma sát của bi nghiền, giảm hạt xuống 10–20 µm.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5312664"/>
            <a:ext cx="320954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4E3D"/>
                </a:solidFill>
                <a:latin typeface="Calibri"/>
              </a:rPr>
              <a:t>Thao tác: </a:t>
            </a:r>
            <a:r>
              <a:rPr sz="1350" b="0" i="0">
                <a:solidFill>
                  <a:srgbClr val="222B28"/>
                </a:solidFill>
                <a:latin typeface="Calibri"/>
              </a:rPr>
              <a:t>Tuần hoàn paste qua rổ đến khi đạt độ mịn Hegman.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84464" y="1463040"/>
            <a:ext cx="3611880" cy="461772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84464" y="1463040"/>
            <a:ext cx="3611880" cy="822960"/>
          </a:xfrm>
          <a:prstGeom prst="roundRect">
            <a:avLst>
              <a:gd name="adj" fmla="val 6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84464" y="1920240"/>
            <a:ext cx="3611880" cy="3657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13064" y="1463040"/>
            <a:ext cx="3154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Máy pha loãng</a:t>
            </a:r>
          </a:p>
          <a:p>
            <a:pPr algn="l"/>
            <a:r>
              <a:rPr sz="1300" b="0" i="0">
                <a:solidFill>
                  <a:srgbClr val="E9F2EC"/>
                </a:solidFill>
                <a:latin typeface="Calibri"/>
              </a:rPr>
              <a:t>Mã: PL01–03</a:t>
            </a:r>
          </a:p>
        </p:txBody>
      </p:sp>
      <p:pic>
        <p:nvPicPr>
          <p:cNvPr id="26" name="Picture 25" descr="eq_line.jpg"/>
          <p:cNvPicPr>
            <a:picLocks noChangeAspect="1"/>
          </p:cNvPicPr>
          <p:nvPr/>
        </p:nvPicPr>
        <p:blipFill>
          <a:blip r:embed="rId4"/>
          <a:srcRect t="24000" b="24000"/>
          <a:stretch>
            <a:fillRect/>
          </a:stretch>
        </p:blipFill>
        <p:spPr>
          <a:xfrm>
            <a:off x="8449056" y="2395728"/>
            <a:ext cx="3282696" cy="1280160"/>
          </a:xfrm>
          <a:prstGeom prst="rect">
            <a:avLst/>
          </a:prstGeom>
          <a:ln w="25400">
            <a:solidFill>
              <a:srgbClr val="FFFFFF"/>
            </a:solidFill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8485632" y="3794760"/>
            <a:ext cx="320954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C88A2E"/>
                </a:solidFill>
                <a:latin typeface="Calibri"/>
              </a:rPr>
              <a:t>Cấu tạo: </a:t>
            </a:r>
            <a:r>
              <a:rPr sz="1350" b="0" i="0">
                <a:solidFill>
                  <a:srgbClr val="222B28"/>
                </a:solidFill>
                <a:latin typeface="Calibri"/>
              </a:rPr>
              <a:t>Bồn inox, cánh khuấy thủy lực 4 cánh, van xả đáy côn.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4553712"/>
            <a:ext cx="320954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C88A2E"/>
                </a:solidFill>
                <a:latin typeface="Calibri"/>
              </a:rPr>
              <a:t>Nguyên lý: </a:t>
            </a:r>
            <a:r>
              <a:rPr sz="1350" b="0" i="0">
                <a:solidFill>
                  <a:srgbClr val="222B28"/>
                </a:solidFill>
                <a:latin typeface="Calibri"/>
              </a:rPr>
              <a:t>Khuấy tạo dòng đối lưu, chỉnh độ nhớt bằng dung môi.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5312664"/>
            <a:ext cx="320954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C88A2E"/>
                </a:solidFill>
                <a:latin typeface="Calibri"/>
              </a:rPr>
              <a:t>Thao tác: </a:t>
            </a:r>
            <a:r>
              <a:rPr sz="1350" b="0" i="0">
                <a:solidFill>
                  <a:srgbClr val="222B28"/>
                </a:solidFill>
                <a:latin typeface="Calibri"/>
              </a:rPr>
              <a:t>Bổ sung dung môi từ từ, đo KU đến thông số đích.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64"/>
                </a:solidFill>
                <a:latin typeface="Calibri"/>
              </a:rPr>
              <a:t>Báo cáo thực tập  ·  Công ty TNHH Sơn Hải Vân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C7A5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47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90"/>
                      </p:stCondLst>
                      <p:childTnLst>
                        <p:par>
                          <p:cTn id="1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" dur="5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" dur="5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270"/>
                      </p:stCondLst>
                      <p:childTnLst>
                        <p:par>
                          <p:cTn id="2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3" dur="5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360"/>
                      </p:stCondLst>
                      <p:childTnLst>
                        <p:par>
                          <p:cTn id="2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8" dur="5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450"/>
                      </p:stCondLst>
                      <p:childTnLst>
                        <p:par>
                          <p:cTn id="3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3" dur="5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540"/>
                      </p:stCondLst>
                      <p:childTnLst>
                        <p:par>
                          <p:cTn id="3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8" dur="5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630"/>
                      </p:stCondLst>
                      <p:childTnLst>
                        <p:par>
                          <p:cTn id="4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3" dur="5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presetID="47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8" dur="5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90"/>
                      </p:stCondLst>
                      <p:childTnLst>
                        <p:par>
                          <p:cTn id="5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3" dur="5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180"/>
                      </p:stCondLst>
                      <p:childTnLst>
                        <p:par>
                          <p:cTn id="5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8" dur="5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270"/>
                      </p:stCondLst>
                      <p:childTnLst>
                        <p:par>
                          <p:cTn id="6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3" dur="5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360"/>
                      </p:stCondLst>
                      <p:childTnLst>
                        <p:par>
                          <p:cTn id="6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8" dur="5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450"/>
                      </p:stCondLst>
                      <p:childTnLst>
                        <p:par>
                          <p:cTn id="7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3" dur="5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540"/>
                      </p:stCondLst>
                      <p:childTnLst>
                        <p:par>
                          <p:cTn id="7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8" dur="5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630"/>
                      </p:stCondLst>
                      <p:childTnLst>
                        <p:par>
                          <p:cTn id="8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8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3" dur="5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presetID="47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8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8" dur="5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90"/>
                      </p:stCondLst>
                      <p:childTnLst>
                        <p:par>
                          <p:cTn id="9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9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93" dur="5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180"/>
                      </p:stCondLst>
                      <p:childTnLst>
                        <p:par>
                          <p:cTn id="9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9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98" dur="5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270"/>
                      </p:stCondLst>
                      <p:childTnLst>
                        <p:par>
                          <p:cTn id="10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3" dur="55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360"/>
                      </p:stCondLst>
                      <p:childTnLst>
                        <p:par>
                          <p:cTn id="10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8" dur="55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450"/>
                      </p:stCondLst>
                      <p:childTnLst>
                        <p:par>
                          <p:cTn id="11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3" dur="55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540"/>
                      </p:stCondLst>
                      <p:childTnLst>
                        <p:par>
                          <p:cTn id="11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8" dur="55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630"/>
                      </p:stCondLst>
                      <p:childTnLst>
                        <p:par>
                          <p:cTn id="12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3" dur="55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960120"/>
            <a:ext cx="1234440" cy="123444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2344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56692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FA287"/>
                </a:solidFill>
                <a:latin typeface="Calibri"/>
              </a:rPr>
              <a:t>PHẦN 4</a:t>
            </a:r>
          </a:p>
          <a:p>
            <a:pPr algn="l">
              <a:lnSpc>
                <a:spcPct val="103000"/>
              </a:lnSpc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Kiểm soát chất lượng (KCS)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6FA287"/>
                </a:solidFill>
                <a:latin typeface="Calibri"/>
              </a:rPr>
              <a:t>Kiểm tra tại xưởng · phòng lab · sơn tàu biển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960120"/>
            <a:ext cx="493776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c_uv.jpg"/>
          <p:cNvPicPr>
            <a:picLocks noChangeAspect="1"/>
          </p:cNvPicPr>
          <p:nvPr/>
        </p:nvPicPr>
        <p:blipFill>
          <a:blip r:embed="rId2"/>
          <a:srcRect t="71" b="71"/>
          <a:stretch>
            <a:fillRect/>
          </a:stretch>
        </p:blipFill>
        <p:spPr>
          <a:xfrm>
            <a:off x="6858000" y="1097280"/>
            <a:ext cx="4663440" cy="4663440"/>
          </a:xfrm>
          <a:prstGeom prst="rect">
            <a:avLst/>
          </a:prstGeom>
          <a:ln w="25400">
            <a:solidFill>
              <a:srgbClr val="FFFFFF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720840" y="60350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FA287"/>
                </a:solidFill>
                <a:latin typeface="Calibri"/>
              </a:rPr>
              <a:t>Ảnh chụp tại xưởng — buồng thử lão hóa UV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C7A5A"/>
                </a:solidFill>
                <a:latin typeface="Calibri"/>
              </a:rPr>
              <a:t>4. KIỂM SOÁT CHẤT LƯỢNG</a:t>
            </a:r>
          </a:p>
          <a:p>
            <a:pPr algn="l"/>
            <a:r>
              <a:rPr sz="2700" b="1" i="0">
                <a:solidFill>
                  <a:srgbClr val="1F4E3D"/>
                </a:solidFill>
                <a:latin typeface="Cambria"/>
              </a:rPr>
              <a:t>Hai cấp kiểm tra chất lượng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40680" cy="448056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40680" cy="822960"/>
          </a:xfrm>
          <a:prstGeom prst="roundRect">
            <a:avLst>
              <a:gd name="adj" fmla="val 6000"/>
            </a:avLst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40680" cy="365760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4937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Kiểm tra NHANH tại xưởng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49377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0" i="1">
                <a:solidFill>
                  <a:srgbClr val="5C6B64"/>
                </a:solidFill>
                <a:latin typeface="Calibri"/>
              </a:rPr>
              <a:t>Theo dõi từng mẻ, quyết định cho qua công đoạn — dùng dụng cụ đo nhanh cầm tay.</a:t>
            </a:r>
          </a:p>
          <a:p>
            <a:pPr algn="l">
              <a:spcAft>
                <a:spcPts val="700"/>
              </a:spcAft>
            </a:pPr>
            <a:r>
              <a:rPr sz="1450" b="1" i="0">
                <a:solidFill>
                  <a:srgbClr val="2C7A5A"/>
                </a:solidFill>
                <a:latin typeface="Calibri"/>
              </a:rPr>
              <a:t>✔  </a:t>
            </a:r>
            <a:r>
              <a:rPr sz="1500" b="0" i="0">
                <a:solidFill>
                  <a:srgbClr val="222B28"/>
                </a:solidFill>
                <a:latin typeface="Calibri"/>
              </a:rPr>
              <a:t>Tỷ trọng</a:t>
            </a:r>
          </a:p>
          <a:p>
            <a:pPr algn="l">
              <a:spcAft>
                <a:spcPts val="700"/>
              </a:spcAft>
            </a:pPr>
            <a:r>
              <a:rPr sz="1450" b="1" i="0">
                <a:solidFill>
                  <a:srgbClr val="2C7A5A"/>
                </a:solidFill>
                <a:latin typeface="Calibri"/>
              </a:rPr>
              <a:t>✔  </a:t>
            </a:r>
            <a:r>
              <a:rPr sz="1500" b="0" i="0">
                <a:solidFill>
                  <a:srgbClr val="222B28"/>
                </a:solidFill>
                <a:latin typeface="Calibri"/>
              </a:rPr>
              <a:t>Màu sắc</a:t>
            </a:r>
          </a:p>
          <a:p>
            <a:pPr algn="l">
              <a:spcAft>
                <a:spcPts val="700"/>
              </a:spcAft>
            </a:pPr>
            <a:r>
              <a:rPr sz="1450" b="1" i="0">
                <a:solidFill>
                  <a:srgbClr val="2C7A5A"/>
                </a:solidFill>
                <a:latin typeface="Calibri"/>
              </a:rPr>
              <a:t>✔  </a:t>
            </a:r>
            <a:r>
              <a:rPr sz="1500" b="0" i="0">
                <a:solidFill>
                  <a:srgbClr val="222B28"/>
                </a:solidFill>
                <a:latin typeface="Calibri"/>
              </a:rPr>
              <a:t>Độ phủ</a:t>
            </a:r>
          </a:p>
          <a:p>
            <a:pPr algn="l">
              <a:spcAft>
                <a:spcPts val="700"/>
              </a:spcAft>
            </a:pPr>
            <a:r>
              <a:rPr sz="1450" b="1" i="0">
                <a:solidFill>
                  <a:srgbClr val="2C7A5A"/>
                </a:solidFill>
                <a:latin typeface="Calibri"/>
              </a:rPr>
              <a:t>✔  </a:t>
            </a:r>
            <a:r>
              <a:rPr sz="1500" b="0" i="0">
                <a:solidFill>
                  <a:srgbClr val="222B28"/>
                </a:solidFill>
                <a:latin typeface="Calibri"/>
              </a:rPr>
              <a:t>Độ mịn (Hegman)</a:t>
            </a:r>
          </a:p>
          <a:p>
            <a:pPr algn="l">
              <a:spcAft>
                <a:spcPts val="700"/>
              </a:spcAft>
            </a:pPr>
            <a:r>
              <a:rPr sz="1450" b="1" i="0">
                <a:solidFill>
                  <a:srgbClr val="2C7A5A"/>
                </a:solidFill>
                <a:latin typeface="Calibri"/>
              </a:rPr>
              <a:t>✔  </a:t>
            </a:r>
            <a:r>
              <a:rPr sz="1500" b="0" i="0">
                <a:solidFill>
                  <a:srgbClr val="222B28"/>
                </a:solidFill>
                <a:latin typeface="Calibri"/>
              </a:rPr>
              <a:t>Thời gian khô</a:t>
            </a:r>
          </a:p>
          <a:p>
            <a:pPr algn="l">
              <a:spcAft>
                <a:spcPts val="700"/>
              </a:spcAft>
            </a:pPr>
            <a:r>
              <a:rPr sz="1450" b="1" i="0">
                <a:solidFill>
                  <a:srgbClr val="2C7A5A"/>
                </a:solidFill>
                <a:latin typeface="Calibri"/>
              </a:rPr>
              <a:t>✔  </a:t>
            </a:r>
            <a:r>
              <a:rPr sz="1500" b="0" i="0">
                <a:solidFill>
                  <a:srgbClr val="222B28"/>
                </a:solidFill>
                <a:latin typeface="Calibri"/>
              </a:rPr>
              <a:t>Độ nhớt (Stormer)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440680" cy="4480560"/>
          </a:xfrm>
          <a:prstGeom prst="roundRect">
            <a:avLst>
              <a:gd name="adj" fmla="val 6000"/>
            </a:avLst>
          </a:prstGeom>
          <a:solidFill>
            <a:srgbClr val="F6EEDF"/>
          </a:solidFill>
          <a:ln w="12700">
            <a:solidFill>
              <a:srgbClr val="E7D5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440680" cy="822960"/>
          </a:xfrm>
          <a:prstGeom prst="roundRect">
            <a:avLst>
              <a:gd name="adj" fmla="val 6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5440680" cy="3657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4937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Kiểm tra SÂU tại phòng 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06040"/>
            <a:ext cx="49377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0" i="1">
                <a:solidFill>
                  <a:srgbClr val="5C6B64"/>
                </a:solidFill>
                <a:latin typeface="Calibri"/>
              </a:rPr>
              <a:t>Đánh giá độ bền dài hạn của màng sơn — cơ sở nghiệm thu &amp; phát triển sản phẩm.</a:t>
            </a:r>
          </a:p>
          <a:p>
            <a:pPr algn="l">
              <a:spcAft>
                <a:spcPts val="900"/>
              </a:spcAft>
            </a:pPr>
            <a:r>
              <a:rPr sz="1450" b="1" i="0">
                <a:solidFill>
                  <a:srgbClr val="C88A2E"/>
                </a:solidFill>
                <a:latin typeface="Calibri"/>
              </a:rPr>
              <a:t>✔  </a:t>
            </a:r>
            <a:r>
              <a:rPr sz="1500" b="0" i="0">
                <a:solidFill>
                  <a:srgbClr val="222B28"/>
                </a:solidFill>
                <a:latin typeface="Calibri"/>
              </a:rPr>
              <a:t>Độ bám dính (Pull-off / Cross-cut)</a:t>
            </a:r>
          </a:p>
          <a:p>
            <a:pPr algn="l">
              <a:spcAft>
                <a:spcPts val="900"/>
              </a:spcAft>
            </a:pPr>
            <a:r>
              <a:rPr sz="1450" b="1" i="0">
                <a:solidFill>
                  <a:srgbClr val="C88A2E"/>
                </a:solidFill>
                <a:latin typeface="Calibri"/>
              </a:rPr>
              <a:t>✔  </a:t>
            </a:r>
            <a:r>
              <a:rPr sz="1500" b="0" i="0">
                <a:solidFill>
                  <a:srgbClr val="222B28"/>
                </a:solidFill>
                <a:latin typeface="Calibri"/>
              </a:rPr>
              <a:t>Bền uốn · bền va đập</a:t>
            </a:r>
          </a:p>
          <a:p>
            <a:pPr algn="l">
              <a:spcAft>
                <a:spcPts val="900"/>
              </a:spcAft>
            </a:pPr>
            <a:r>
              <a:rPr sz="1450" b="1" i="0">
                <a:solidFill>
                  <a:srgbClr val="C88A2E"/>
                </a:solidFill>
                <a:latin typeface="Calibri"/>
              </a:rPr>
              <a:t>✔  </a:t>
            </a:r>
            <a:r>
              <a:rPr sz="1500" b="0" i="0">
                <a:solidFill>
                  <a:srgbClr val="222B28"/>
                </a:solidFill>
                <a:latin typeface="Calibri"/>
              </a:rPr>
              <a:t>Độ bóng · hàm lượng rắn</a:t>
            </a:r>
          </a:p>
          <a:p>
            <a:pPr algn="l">
              <a:spcAft>
                <a:spcPts val="900"/>
              </a:spcAft>
            </a:pPr>
            <a:r>
              <a:rPr sz="1450" b="1" i="0">
                <a:solidFill>
                  <a:srgbClr val="C88A2E"/>
                </a:solidFill>
                <a:latin typeface="Calibri"/>
              </a:rPr>
              <a:t>✔  </a:t>
            </a:r>
            <a:r>
              <a:rPr sz="1500" b="0" i="0">
                <a:solidFill>
                  <a:srgbClr val="222B28"/>
                </a:solidFill>
                <a:latin typeface="Calibri"/>
              </a:rPr>
              <a:t>Phun sương muối (salt-spray)</a:t>
            </a:r>
          </a:p>
          <a:p>
            <a:pPr algn="l">
              <a:spcAft>
                <a:spcPts val="900"/>
              </a:spcAft>
            </a:pPr>
            <a:r>
              <a:rPr sz="1450" b="1" i="0">
                <a:solidFill>
                  <a:srgbClr val="C88A2E"/>
                </a:solidFill>
                <a:latin typeface="Calibri"/>
              </a:rPr>
              <a:t>✔  </a:t>
            </a:r>
            <a:r>
              <a:rPr sz="1500" b="0" i="0">
                <a:solidFill>
                  <a:srgbClr val="222B28"/>
                </a:solidFill>
                <a:latin typeface="Calibri"/>
              </a:rPr>
              <a:t>Lão hóa màng sơn — UV/QUV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64"/>
                </a:solidFill>
                <a:latin typeface="Calibri"/>
              </a:rPr>
              <a:t>Báo cáo thực tập  ·  Công ty TNHH Sơn Hải Vân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C7A5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90"/>
                      </p:stCondLst>
                      <p:childTnLst>
                        <p:par>
                          <p:cTn id="1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270"/>
                      </p:stCondLst>
                      <p:childTnLst>
                        <p:par>
                          <p:cTn id="2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3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360"/>
                      </p:stCondLst>
                      <p:childTnLst>
                        <p:par>
                          <p:cTn id="2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8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presetID="2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3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90"/>
                      </p:stCondLst>
                      <p:childTnLst>
                        <p:par>
                          <p:cTn id="35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8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80"/>
                      </p:stCondLst>
                      <p:childTnLst>
                        <p:par>
                          <p:cTn id="40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3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270"/>
                      </p:stCondLst>
                      <p:childTnLst>
                        <p:par>
                          <p:cTn id="45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8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360"/>
                      </p:stCondLst>
                      <p:childTnLst>
                        <p:par>
                          <p:cTn id="50" presetID="2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3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C7A5A"/>
                </a:solidFill>
                <a:latin typeface="Calibri"/>
              </a:rPr>
              <a:t>4. KCS — SƠN TÀU BIỂN</a:t>
            </a:r>
          </a:p>
          <a:p>
            <a:pPr algn="l"/>
            <a:r>
              <a:rPr sz="2700" b="1" i="0">
                <a:solidFill>
                  <a:srgbClr val="1F4E3D"/>
                </a:solidFill>
                <a:latin typeface="Cambria"/>
              </a:rPr>
              <a:t>Ba phép thử bắt buộc cho sơn tàu biển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109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1F4E3D"/>
                </a:solidFill>
                <a:latin typeface="Calibri"/>
              </a:rPr>
              <a:t>Tàu biển ngâm liên tục trong nước muối + độ ẩm cao + va đập sóng</a:t>
            </a:r>
            <a:r>
              <a:rPr sz="1450" b="0" i="0">
                <a:solidFill>
                  <a:srgbClr val="222B28"/>
                </a:solidFill>
                <a:latin typeface="Calibri"/>
              </a:rPr>
              <a:t> → ba phép thử sau là bắt buộc, khác hẳn sơn trang trí thông thường: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11109960" cy="1170432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1371600" cy="1170432"/>
          </a:xfrm>
          <a:prstGeom prst="roundRect">
            <a:avLst>
              <a:gd name="adj" fmla="val 6000"/>
            </a:avLst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3040" y="2148840"/>
            <a:ext cx="457200" cy="1170432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3716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313432"/>
            <a:ext cx="3566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650" b="1" i="0">
                <a:solidFill>
                  <a:srgbClr val="1F4E3D"/>
                </a:solidFill>
                <a:latin typeface="Calibri"/>
              </a:rPr>
              <a:t>Độ bám dính (Pull-off)</a:t>
            </a:r>
          </a:p>
          <a:p>
            <a:pPr algn="l"/>
            <a:r>
              <a:rPr sz="1300" b="1" i="0">
                <a:solidFill>
                  <a:srgbClr val="2C7A5A"/>
                </a:solidFill>
                <a:latin typeface="Calibri"/>
              </a:rPr>
              <a:t>ISO 4624 / ASTM D4541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313432"/>
            <a:ext cx="5486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B28"/>
                </a:solidFill>
                <a:latin typeface="Calibri"/>
              </a:rPr>
              <a:t>Kéo đứt màng sơn bằng lực thủy lực, đo bằng MPa. Bám dính yếu thì nước biển len vào, ăn mòn lan ngầm dưới lớp sơn.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47288"/>
            <a:ext cx="11109960" cy="1170432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447288"/>
            <a:ext cx="1371600" cy="1170432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63040" y="3447288"/>
            <a:ext cx="457200" cy="1170432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47288"/>
            <a:ext cx="13716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611880"/>
            <a:ext cx="3566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650" b="1" i="0">
                <a:solidFill>
                  <a:srgbClr val="1F4E3D"/>
                </a:solidFill>
                <a:latin typeface="Calibri"/>
              </a:rPr>
              <a:t>Phun sương muối 1000 giờ</a:t>
            </a:r>
          </a:p>
          <a:p>
            <a:pPr algn="l"/>
            <a:r>
              <a:rPr sz="1300" b="1" i="0">
                <a:solidFill>
                  <a:srgbClr val="1F4E3D"/>
                </a:solidFill>
                <a:latin typeface="Calibri"/>
              </a:rPr>
              <a:t>ISO 7253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611880"/>
            <a:ext cx="5486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B28"/>
                </a:solidFill>
                <a:latin typeface="Calibri"/>
              </a:rPr>
              <a:t>Phun sương NaCl 5% liên tục ở 35°C trong 1000 giờ, mô phỏng khí hậu biển tăng tốc để đánh giá độ gỉ và lan rỉ.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45736"/>
            <a:ext cx="11109960" cy="1170432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4745736"/>
            <a:ext cx="1371600" cy="1170432"/>
          </a:xfrm>
          <a:prstGeom prst="roundRect">
            <a:avLst>
              <a:gd name="adj" fmla="val 6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63040" y="4745736"/>
            <a:ext cx="457200" cy="1170432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745736"/>
            <a:ext cx="137160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910327"/>
            <a:ext cx="3566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650" b="1" i="0">
                <a:solidFill>
                  <a:srgbClr val="1F4E3D"/>
                </a:solidFill>
                <a:latin typeface="Calibri"/>
              </a:rPr>
              <a:t>Lão hóa nhanh QUV</a:t>
            </a:r>
          </a:p>
          <a:p>
            <a:pPr algn="l"/>
            <a:r>
              <a:rPr sz="1300" b="1" i="0">
                <a:solidFill>
                  <a:srgbClr val="C88A2E"/>
                </a:solidFill>
                <a:latin typeface="Calibri"/>
              </a:rPr>
              <a:t>Chu trình UV-A / UV-B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910327"/>
            <a:ext cx="54864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B28"/>
                </a:solidFill>
                <a:latin typeface="Calibri"/>
              </a:rPr>
              <a:t>Mô phỏng nhiều tháng nắng – mưa chỉ trong vài tuần, kiểm tra hiện tượng phấn hóa, phai màu và nứt màng.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64"/>
                </a:solidFill>
                <a:latin typeface="Calibri"/>
              </a:rPr>
              <a:t>Báo cáo thực tập  ·  Công ty TNHH Sơn Hải Vân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C7A5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90"/>
                      </p:stCondLst>
                      <p:childTnLst>
                        <p:par>
                          <p:cTn id="1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270"/>
                      </p:stCondLst>
                      <p:childTnLst>
                        <p:par>
                          <p:cTn id="2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3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360"/>
                      </p:stCondLst>
                      <p:childTnLst>
                        <p:par>
                          <p:cTn id="2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8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450"/>
                      </p:stCondLst>
                      <p:childTnLst>
                        <p:par>
                          <p:cTn id="3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3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presetID="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90"/>
                      </p:stCondLst>
                      <p:childTnLst>
                        <p:par>
                          <p:cTn id="4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3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180"/>
                      </p:stCondLst>
                      <p:childTnLst>
                        <p:par>
                          <p:cTn id="4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270"/>
                      </p:stCondLst>
                      <p:childTnLst>
                        <p:par>
                          <p:cTn id="5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3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360"/>
                      </p:stCondLst>
                      <p:childTnLst>
                        <p:par>
                          <p:cTn id="5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8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450"/>
                      </p:stCondLst>
                      <p:childTnLst>
                        <p:par>
                          <p:cTn id="6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3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presetID="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8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90"/>
                      </p:stCondLst>
                      <p:childTnLst>
                        <p:par>
                          <p:cTn id="7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3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180"/>
                      </p:stCondLst>
                      <p:childTnLst>
                        <p:par>
                          <p:cTn id="7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8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270"/>
                      </p:stCondLst>
                      <p:childTnLst>
                        <p:par>
                          <p:cTn id="8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8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3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360"/>
                      </p:stCondLst>
                      <p:childTnLst>
                        <p:par>
                          <p:cTn id="8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8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8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450"/>
                      </p:stCondLst>
                      <p:childTnLst>
                        <p:par>
                          <p:cTn id="9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9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93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C7A5A"/>
                </a:solidFill>
                <a:latin typeface="Calibri"/>
              </a:rPr>
              <a:t>4. KCS — HÌNH ẢNH THỰC TẾ</a:t>
            </a:r>
          </a:p>
          <a:p>
            <a:pPr algn="l"/>
            <a:r>
              <a:rPr sz="2700" b="1" i="0">
                <a:solidFill>
                  <a:srgbClr val="1F4E3D"/>
                </a:solidFill>
                <a:latin typeface="Cambria"/>
              </a:rPr>
              <a:t>Dụng cụ &amp; thiết bị kiểm tra tại xưởng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670048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c_pulloff.jpg"/>
          <p:cNvPicPr>
            <a:picLocks noChangeAspect="1"/>
          </p:cNvPicPr>
          <p:nvPr/>
        </p:nvPicPr>
        <p:blipFill>
          <a:blip r:embed="rId2"/>
          <a:srcRect l="32200" r="32200"/>
          <a:stretch>
            <a:fillRect/>
          </a:stretch>
        </p:blipFill>
        <p:spPr>
          <a:xfrm>
            <a:off x="621792" y="1673352"/>
            <a:ext cx="2523744" cy="3337560"/>
          </a:xfrm>
          <a:prstGeom prst="rect">
            <a:avLst/>
          </a:prstGeom>
          <a:ln w="25400">
            <a:solidFill>
              <a:srgbClr val="FFFFFF"/>
            </a:solidFill>
          </a:ln>
          <a:effectLst/>
        </p:spPr>
      </p:pic>
      <p:sp>
        <p:nvSpPr>
          <p:cNvPr id="8" name="Rounded Rectangle 7"/>
          <p:cNvSpPr/>
          <p:nvPr/>
        </p:nvSpPr>
        <p:spPr>
          <a:xfrm>
            <a:off x="548640" y="4919472"/>
            <a:ext cx="2670048" cy="475488"/>
          </a:xfrm>
          <a:prstGeom prst="roundRect">
            <a:avLst>
              <a:gd name="adj" fmla="val 6000"/>
            </a:avLst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754880"/>
            <a:ext cx="2670048" cy="274320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901184"/>
            <a:ext cx="2450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Bộ đo độ bám dính Pull-off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600200"/>
            <a:ext cx="2670048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c_hegman.jpg"/>
          <p:cNvPicPr>
            <a:picLocks noChangeAspect="1"/>
          </p:cNvPicPr>
          <p:nvPr/>
        </p:nvPicPr>
        <p:blipFill>
          <a:blip r:embed="rId3"/>
          <a:srcRect l="12595" r="12595"/>
          <a:stretch>
            <a:fillRect/>
          </a:stretch>
        </p:blipFill>
        <p:spPr>
          <a:xfrm>
            <a:off x="3456432" y="1673352"/>
            <a:ext cx="2523744" cy="3337560"/>
          </a:xfrm>
          <a:prstGeom prst="rect">
            <a:avLst/>
          </a:prstGeom>
          <a:ln w="25400">
            <a:solidFill>
              <a:srgbClr val="FFFFFF"/>
            </a:solidFill>
          </a:ln>
          <a:effectLst/>
        </p:spPr>
      </p:pic>
      <p:sp>
        <p:nvSpPr>
          <p:cNvPr id="13" name="Rounded Rectangle 12"/>
          <p:cNvSpPr/>
          <p:nvPr/>
        </p:nvSpPr>
        <p:spPr>
          <a:xfrm>
            <a:off x="3383280" y="4919472"/>
            <a:ext cx="2670048" cy="475488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4754880"/>
            <a:ext cx="2670048" cy="27432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4901184"/>
            <a:ext cx="2450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Thước đo độ mịn Hegman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00200"/>
            <a:ext cx="2670048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qc_lab.jpg"/>
          <p:cNvPicPr>
            <a:picLocks noChangeAspect="1"/>
          </p:cNvPicPr>
          <p:nvPr/>
        </p:nvPicPr>
        <p:blipFill>
          <a:blip r:embed="rId4"/>
          <a:srcRect l="32627" r="32627"/>
          <a:stretch>
            <a:fillRect/>
          </a:stretch>
        </p:blipFill>
        <p:spPr>
          <a:xfrm>
            <a:off x="6291072" y="1673352"/>
            <a:ext cx="2523744" cy="3337560"/>
          </a:xfrm>
          <a:prstGeom prst="rect">
            <a:avLst/>
          </a:prstGeom>
          <a:ln w="25400">
            <a:solidFill>
              <a:srgbClr val="FFFFFF"/>
            </a:solidFill>
          </a:ln>
          <a:effectLst/>
        </p:spPr>
      </p:pic>
      <p:sp>
        <p:nvSpPr>
          <p:cNvPr id="18" name="Rounded Rectangle 17"/>
          <p:cNvSpPr/>
          <p:nvPr/>
        </p:nvSpPr>
        <p:spPr>
          <a:xfrm>
            <a:off x="6217920" y="4919472"/>
            <a:ext cx="2670048" cy="475488"/>
          </a:xfrm>
          <a:prstGeom prst="roundRect">
            <a:avLst>
              <a:gd name="adj" fmla="val 6000"/>
            </a:avLst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754880"/>
            <a:ext cx="2670048" cy="274320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4901184"/>
            <a:ext cx="2450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Thiết bị phòng thí nghiệm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600200"/>
            <a:ext cx="2670048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qc_cup.jpg"/>
          <p:cNvPicPr>
            <a:picLocks noChangeAspect="1"/>
          </p:cNvPicPr>
          <p:nvPr/>
        </p:nvPicPr>
        <p:blipFill>
          <a:blip r:embed="rId5"/>
          <a:srcRect l="25390" r="25390"/>
          <a:stretch>
            <a:fillRect/>
          </a:stretch>
        </p:blipFill>
        <p:spPr>
          <a:xfrm>
            <a:off x="9125712" y="1673352"/>
            <a:ext cx="2523744" cy="3337560"/>
          </a:xfrm>
          <a:prstGeom prst="rect">
            <a:avLst/>
          </a:prstGeom>
          <a:ln w="25400">
            <a:solidFill>
              <a:srgbClr val="FFFFFF"/>
            </a:solidFill>
          </a:ln>
          <a:effectLst/>
        </p:spPr>
      </p:pic>
      <p:sp>
        <p:nvSpPr>
          <p:cNvPr id="23" name="Rounded Rectangle 22"/>
          <p:cNvSpPr/>
          <p:nvPr/>
        </p:nvSpPr>
        <p:spPr>
          <a:xfrm>
            <a:off x="9052560" y="4919472"/>
            <a:ext cx="2670048" cy="475488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4754880"/>
            <a:ext cx="2670048" cy="27432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2288" y="4901184"/>
            <a:ext cx="2450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Cốc/thùng chứa mẫu sơn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C6B64"/>
                </a:solidFill>
                <a:latin typeface="Calibri"/>
              </a:rPr>
              <a:t>Các dụng cụ đo nhanh (Pull-off, Hegman, Stormer, Pfund) cho phép đánh giá tại chỗ theo khung TCVN / ASTM mà không cần thiết bị phân tích chuyên sâu.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C7A5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47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" dur="7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4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90"/>
                      </p:stCondLst>
                      <p:childTnLst>
                        <p:par>
                          <p:cTn id="1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" dur="7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4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" dur="7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4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270"/>
                      </p:stCondLst>
                      <p:childTnLst>
                        <p:par>
                          <p:cTn id="2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2" dur="7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4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3" dur="7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360"/>
                      </p:stCondLst>
                      <p:childTnLst>
                        <p:par>
                          <p:cTn id="2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7" dur="7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4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8" dur="7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presetID="47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7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4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3" dur="7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90"/>
                      </p:stCondLst>
                      <p:childTnLst>
                        <p:par>
                          <p:cTn id="3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7" dur="7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4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8" dur="7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80"/>
                      </p:stCondLst>
                      <p:childTnLst>
                        <p:par>
                          <p:cTn id="4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2" dur="7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4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3" dur="7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270"/>
                      </p:stCondLst>
                      <p:childTnLst>
                        <p:par>
                          <p:cTn id="4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7" dur="7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4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8" dur="7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360"/>
                      </p:stCondLst>
                      <p:childTnLst>
                        <p:par>
                          <p:cTn id="5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2" dur="7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4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3" dur="7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47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7" dur="7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4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8" dur="7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90"/>
                      </p:stCondLst>
                      <p:childTnLst>
                        <p:par>
                          <p:cTn id="6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2" dur="7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4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3" dur="7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180"/>
                      </p:stCondLst>
                      <p:childTnLst>
                        <p:par>
                          <p:cTn id="6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7" dur="7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4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8" dur="7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270"/>
                      </p:stCondLst>
                      <p:childTnLst>
                        <p:par>
                          <p:cTn id="7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2" dur="7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4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3" dur="7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360"/>
                      </p:stCondLst>
                      <p:childTnLst>
                        <p:par>
                          <p:cTn id="7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7" dur="7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4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8" dur="7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presetID="47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82" dur="7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4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3" dur="7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90"/>
                      </p:stCondLst>
                      <p:childTnLst>
                        <p:par>
                          <p:cTn id="8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87" dur="7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4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8" dur="7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180"/>
                      </p:stCondLst>
                      <p:childTnLst>
                        <p:par>
                          <p:cTn id="9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92" dur="7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4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93" dur="7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270"/>
                      </p:stCondLst>
                      <p:childTnLst>
                        <p:par>
                          <p:cTn id="9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97" dur="7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4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98" dur="7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360"/>
                      </p:stCondLst>
                      <p:childTnLst>
                        <p:par>
                          <p:cTn id="10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2" dur="7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4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3" dur="7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1005840"/>
            <a:ext cx="2743200" cy="2743200"/>
          </a:xfrm>
          <a:prstGeom prst="ellipse">
            <a:avLst/>
          </a:prstGeom>
          <a:solidFill>
            <a:srgbClr val="18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011680"/>
            <a:ext cx="1371600" cy="137160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011680"/>
            <a:ext cx="8778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FA287"/>
                </a:solidFill>
                <a:latin typeface="Calibri"/>
              </a:rPr>
              <a:t>PHẦN 5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Những sự cố thường gặp</a:t>
            </a:r>
          </a:p>
          <a:p>
            <a:pPr algn="l"/>
            <a:r>
              <a:rPr sz="1500" b="0" i="0">
                <a:solidFill>
                  <a:srgbClr val="6FA287"/>
                </a:solidFill>
                <a:latin typeface="Calibri"/>
              </a:rPr>
              <a:t>Nhận diện · nguyên nhân · biện pháp xử lý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160520"/>
            <a:ext cx="548640" cy="1417320"/>
          </a:xfrm>
          <a:prstGeom prst="roundRect">
            <a:avLst>
              <a:gd name="adj" fmla="val 12000"/>
            </a:avLst>
          </a:prstGeom>
          <a:solidFill>
            <a:srgbClr val="8C3B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66760" y="4306824"/>
            <a:ext cx="548640" cy="1417320"/>
          </a:xfrm>
          <a:prstGeom prst="roundRect">
            <a:avLst>
              <a:gd name="adj" fmla="val 12000"/>
            </a:avLst>
          </a:prstGeom>
          <a:solidFill>
            <a:srgbClr val="B56A3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15400" y="4160520"/>
            <a:ext cx="548640" cy="1417320"/>
          </a:xfrm>
          <a:prstGeom prst="roundRect">
            <a:avLst>
              <a:gd name="adj" fmla="val 12000"/>
            </a:avLst>
          </a:prstGeom>
          <a:solidFill>
            <a:srgbClr val="4A4F5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64040" y="4306824"/>
            <a:ext cx="548640" cy="1417320"/>
          </a:xfrm>
          <a:prstGeom prst="roundRect">
            <a:avLst>
              <a:gd name="adj" fmla="val 12000"/>
            </a:avLst>
          </a:prstGeom>
          <a:solidFill>
            <a:srgbClr val="1F4E3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12680" y="4160520"/>
            <a:ext cx="548640" cy="1417320"/>
          </a:xfrm>
          <a:prstGeom prst="roundRect">
            <a:avLst>
              <a:gd name="adj" fmla="val 12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61320" y="4306824"/>
            <a:ext cx="548640" cy="1417320"/>
          </a:xfrm>
          <a:prstGeom prst="roundRect">
            <a:avLst>
              <a:gd name="adj" fmla="val 12000"/>
            </a:avLst>
          </a:prstGeom>
          <a:solidFill>
            <a:srgbClr val="2E6E6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2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180"/>
                      </p:stCondLst>
                      <p:childTnLst>
                        <p:par>
                          <p:cTn id="13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270"/>
                      </p:stCondLst>
                      <p:childTnLst>
                        <p:par>
                          <p:cTn id="17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360"/>
                      </p:stCondLst>
                      <p:childTnLst>
                        <p:par>
                          <p:cTn id="21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450"/>
                      </p:stCondLst>
                      <p:childTnLst>
                        <p:par>
                          <p:cTn id="25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C7A5A"/>
                </a:solidFill>
                <a:latin typeface="Calibri"/>
              </a:rPr>
              <a:t>5. SỰ CỐ THƯỜNG GẶP</a:t>
            </a:r>
          </a:p>
          <a:p>
            <a:pPr algn="l"/>
            <a:r>
              <a:rPr sz="2700" b="1" i="0">
                <a:solidFill>
                  <a:srgbClr val="1F4E3D"/>
                </a:solidFill>
                <a:latin typeface="Cambria"/>
              </a:rPr>
              <a:t>Bốn sự cố điển hình trong sản xuất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1109960" cy="475488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1109960" cy="24688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2651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Sự cố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508760"/>
            <a:ext cx="3200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Nguyên nhân chính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508760"/>
            <a:ext cx="4663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Biện pháp xử lý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3120"/>
            <a:ext cx="11109960" cy="932688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231136"/>
            <a:ext cx="118872" cy="676656"/>
          </a:xfrm>
          <a:prstGeom prst="roundRect">
            <a:avLst>
              <a:gd name="adj" fmla="val 6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57984"/>
            <a:ext cx="2697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F4E3D"/>
                </a:solidFill>
                <a:latin typeface="Calibri"/>
              </a:rPr>
              <a:t>Sốc nhựa</a:t>
            </a:r>
          </a:p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C6B64"/>
                </a:solidFill>
                <a:latin typeface="Calibri"/>
              </a:rPr>
              <a:t>Sơn vón cục, kết tủa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57984"/>
            <a:ext cx="31546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 i="0">
                <a:solidFill>
                  <a:srgbClr val="222B28"/>
                </a:solidFill>
                <a:latin typeface="Calibri"/>
              </a:rPr>
              <a:t>Dung môi thay thế có chỉ số hòa tan (Kauri-Butanol) thấp, mất cân bằng phân cực.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157984"/>
            <a:ext cx="4663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 i="0">
                <a:solidFill>
                  <a:srgbClr val="222B28"/>
                </a:solidFill>
                <a:latin typeface="Calibri"/>
              </a:rPr>
              <a:t>Châm dung môi phân cực mạnh (Butyl Acetate / Xylene) + khuấy nghiền rổ 1200–1500 v/p phá keo tụ.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18104"/>
            <a:ext cx="1110996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246120"/>
            <a:ext cx="118872" cy="676656"/>
          </a:xfrm>
          <a:prstGeom prst="roundRect">
            <a:avLst>
              <a:gd name="adj" fmla="val 6000"/>
            </a:avLst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72968"/>
            <a:ext cx="2697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F4E3D"/>
                </a:solidFill>
                <a:latin typeface="Calibri"/>
              </a:rPr>
              <a:t>Chảy xệ màng</a:t>
            </a:r>
          </a:p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C6B64"/>
                </a:solidFill>
                <a:latin typeface="Calibri"/>
              </a:rPr>
              <a:t>Sơn chảy khi thi công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172968"/>
            <a:ext cx="31546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 i="0">
                <a:solidFill>
                  <a:srgbClr val="222B28"/>
                </a:solidFill>
                <a:latin typeface="Calibri"/>
              </a:rPr>
              <a:t>Tốc độ bay hơi dung môi chậm; độ nhớt/cân bằng KB không đạt.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172968"/>
            <a:ext cx="4663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 i="0">
                <a:solidFill>
                  <a:srgbClr val="222B28"/>
                </a:solidFill>
                <a:latin typeface="Calibri"/>
              </a:rPr>
              <a:t>Hiệu chỉnh hệ dung môi, cân bằng chỉ số Kauri–Butanol, kiểm soát độ nhớt trước khi phun.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33088"/>
            <a:ext cx="11109960" cy="932688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261104"/>
            <a:ext cx="118872" cy="676656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87952"/>
            <a:ext cx="2697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F4E3D"/>
                </a:solidFill>
                <a:latin typeface="Calibri"/>
              </a:rPr>
              <a:t>Lắng cứng đáy bồn</a:t>
            </a:r>
          </a:p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C6B64"/>
                </a:solidFill>
                <a:latin typeface="Calibri"/>
              </a:rPr>
              <a:t>Bột lắng, khó khuấy lại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187952"/>
            <a:ext cx="31546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 i="0">
                <a:solidFill>
                  <a:srgbClr val="222B28"/>
                </a:solidFill>
                <a:latin typeface="Calibri"/>
              </a:rPr>
              <a:t>Chênh lệch “độ hút dầu” của bột mới vượt giới hạn PVC.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187952"/>
            <a:ext cx="4663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 i="0">
                <a:solidFill>
                  <a:srgbClr val="222B28"/>
                </a:solidFill>
                <a:latin typeface="Calibri"/>
              </a:rPr>
              <a:t>Tính lại tỷ lệ nhựa–dung môi theo độ hút dầu; bổ sung chất độn cấu trúc vảy/kim chống lắng.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48072"/>
            <a:ext cx="1110996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5276088"/>
            <a:ext cx="118872" cy="676656"/>
          </a:xfrm>
          <a:prstGeom prst="roundRect">
            <a:avLst>
              <a:gd name="adj" fmla="val 6000"/>
            </a:avLst>
          </a:prstGeom>
          <a:solidFill>
            <a:srgbClr val="6FA2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202936"/>
            <a:ext cx="2697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F4E3D"/>
                </a:solidFill>
                <a:latin typeface="Calibri"/>
              </a:rPr>
              <a:t>Mất bóng / nứt giòn</a:t>
            </a:r>
          </a:p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C6B64"/>
                </a:solidFill>
                <a:latin typeface="Calibri"/>
              </a:rPr>
              <a:t>Màng bong tróc, nứt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5202936"/>
            <a:ext cx="31546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 i="0">
                <a:solidFill>
                  <a:srgbClr val="222B28"/>
                </a:solidFill>
                <a:latin typeface="Calibri"/>
              </a:rPr>
              <a:t>Vượt nồng độ thể tích bột màu (PVC), thiếu nhựa liên kết.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202936"/>
            <a:ext cx="4663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 i="0">
                <a:solidFill>
                  <a:srgbClr val="222B28"/>
                </a:solidFill>
                <a:latin typeface="Calibri"/>
              </a:rPr>
              <a:t>Cân đối lại PVC, tăng chất tạo màng dẻo dai; kiểm tra Hegman &amp; độ phủ trước khi đóng gói.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64"/>
                </a:solidFill>
                <a:latin typeface="Calibri"/>
              </a:rPr>
              <a:t>Báo cáo thực tập  ·  Công ty TNHH Sơn Hải Vân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C7A5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22" presetClass="entr" presetSubtype="1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" dur="5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" dur="5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180"/>
                      </p:stCondLst>
                      <p:childTnLst>
                        <p:par>
                          <p:cTn id="13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" dur="5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270"/>
                      </p:stCondLst>
                      <p:childTnLst>
                        <p:par>
                          <p:cTn id="17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" dur="5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360"/>
                      </p:stCondLst>
                      <p:childTnLst>
                        <p:par>
                          <p:cTn id="21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" dur="5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22" presetClass="entr" presetSubtype="1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" dur="5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90"/>
                      </p:stCondLst>
                      <p:childTnLst>
                        <p:par>
                          <p:cTn id="2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" dur="5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80"/>
                      </p:stCondLst>
                      <p:childTnLst>
                        <p:par>
                          <p:cTn id="33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5" dur="5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270"/>
                      </p:stCondLst>
                      <p:childTnLst>
                        <p:par>
                          <p:cTn id="37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9" dur="5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360"/>
                      </p:stCondLst>
                      <p:childTnLst>
                        <p:par>
                          <p:cTn id="41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3" dur="5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presetID="22" presetClass="entr" presetSubtype="1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7" dur="5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90"/>
                      </p:stCondLst>
                      <p:childTnLst>
                        <p:par>
                          <p:cTn id="4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180"/>
                      </p:stCondLst>
                      <p:childTnLst>
                        <p:par>
                          <p:cTn id="53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5" dur="5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270"/>
                      </p:stCondLst>
                      <p:childTnLst>
                        <p:par>
                          <p:cTn id="57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9" dur="5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60"/>
                      </p:stCondLst>
                      <p:childTnLst>
                        <p:par>
                          <p:cTn id="61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3" dur="55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presetID="22" presetClass="entr" presetSubtype="1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7" dur="55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90"/>
                      </p:stCondLst>
                      <p:childTnLst>
                        <p:par>
                          <p:cTn id="6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5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180"/>
                      </p:stCondLst>
                      <p:childTnLst>
                        <p:par>
                          <p:cTn id="73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5" dur="55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270"/>
                      </p:stCondLst>
                      <p:childTnLst>
                        <p:par>
                          <p:cTn id="77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9" dur="55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360"/>
                      </p:stCondLst>
                      <p:childTnLst>
                        <p:par>
                          <p:cTn id="81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3" dur="55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C7A5A"/>
                </a:solidFill>
                <a:latin typeface="Calibri"/>
              </a:rPr>
              <a:t>5. SỰ CỐ TIÊU ĐIỂM</a:t>
            </a:r>
          </a:p>
          <a:p>
            <a:pPr algn="l"/>
            <a:r>
              <a:rPr sz="2700" b="1" i="0">
                <a:solidFill>
                  <a:srgbClr val="1F4E3D"/>
                </a:solidFill>
                <a:latin typeface="Cambria"/>
              </a:rPr>
              <a:t>“Sốc nhựa” khi thay thế dung môi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109960" cy="1024128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331720" cy="1024128"/>
          </a:xfrm>
          <a:prstGeom prst="roundRect">
            <a:avLst>
              <a:gd name="adj" fmla="val 6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1554480"/>
            <a:ext cx="137160" cy="102412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210312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Hiện tượng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554480"/>
            <a:ext cx="832104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222B28"/>
                </a:solidFill>
                <a:latin typeface="Calibri"/>
              </a:rPr>
              <a:t>Sơn vón cục, kết tủa; màng sơn chảy xệ khi thi công.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88336"/>
            <a:ext cx="11109960" cy="1024128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688336"/>
            <a:ext cx="2331720" cy="1024128"/>
          </a:xfrm>
          <a:prstGeom prst="roundRect">
            <a:avLst>
              <a:gd name="adj" fmla="val 6000"/>
            </a:avLst>
          </a:prstGeom>
          <a:solidFill>
            <a:srgbClr val="9A6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2688336"/>
            <a:ext cx="137160" cy="1024128"/>
          </a:xfrm>
          <a:prstGeom prst="rect">
            <a:avLst/>
          </a:prstGeom>
          <a:solidFill>
            <a:srgbClr val="9A6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88336"/>
            <a:ext cx="210312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Nguyên nhân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688336"/>
            <a:ext cx="832104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222B28"/>
                </a:solidFill>
                <a:latin typeface="Calibri"/>
              </a:rPr>
              <a:t>Dung môi mới có chỉ số hòa tan (Kauri-Butanol) thấp → mất cân bằng phân cực; tốc độ bay hơi chậm khiến hệ nhựa keo tụ.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22191"/>
            <a:ext cx="11109960" cy="1024128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822191"/>
            <a:ext cx="2331720" cy="1024128"/>
          </a:xfrm>
          <a:prstGeom prst="roundRect">
            <a:avLst>
              <a:gd name="adj" fmla="val 6000"/>
            </a:avLst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3822191"/>
            <a:ext cx="137160" cy="1024128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22191"/>
            <a:ext cx="210312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Xử lý tại xưởng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822191"/>
            <a:ext cx="832104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222B28"/>
                </a:solidFill>
                <a:latin typeface="Calibri"/>
              </a:rPr>
              <a:t>Châm bổ sung dung môi phân cực mạnh — Butyl Acetate hoặc Xylene — rồi khuấy nghiền rổ ở 1200–1500 v/p để phá vỡ keo tụ.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56048"/>
            <a:ext cx="11109960" cy="1024128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956048"/>
            <a:ext cx="2331720" cy="1024128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0" y="4956048"/>
            <a:ext cx="137160" cy="102412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956048"/>
            <a:ext cx="210312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Phòng ngừa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956048"/>
            <a:ext cx="832104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222B28"/>
                </a:solidFill>
                <a:latin typeface="Calibri"/>
              </a:rPr>
              <a:t>Kiểm tra chỉ số KB của dung môi đầu vào; thử mẻ nhỏ trước khi thay thế đại trà; hiệu chỉnh công thức theo độ hút dầu bột mới.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996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C6B64"/>
                </a:solidFill>
                <a:latin typeface="Calibri"/>
              </a:rPr>
              <a:t>Ảnh thực tế mẻ sơn bị sốc nhựa sẽ được bổ sung khi chụp được tại xưởng.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C7A5A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90"/>
                      </p:stCondLst>
                      <p:childTnLst>
                        <p:par>
                          <p:cTn id="1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270"/>
                      </p:stCondLst>
                      <p:childTnLst>
                        <p:par>
                          <p:cTn id="2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3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360"/>
                      </p:stCondLst>
                      <p:childTnLst>
                        <p:par>
                          <p:cTn id="2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8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presetID="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3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90"/>
                      </p:stCondLst>
                      <p:childTnLst>
                        <p:par>
                          <p:cTn id="3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8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80"/>
                      </p:stCondLst>
                      <p:childTnLst>
                        <p:par>
                          <p:cTn id="4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3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270"/>
                      </p:stCondLst>
                      <p:childTnLst>
                        <p:par>
                          <p:cTn id="4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8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360"/>
                      </p:stCondLst>
                      <p:childTnLst>
                        <p:par>
                          <p:cTn id="5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3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90"/>
                      </p:stCondLst>
                      <p:childTnLst>
                        <p:par>
                          <p:cTn id="6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3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180"/>
                      </p:stCondLst>
                      <p:childTnLst>
                        <p:par>
                          <p:cTn id="6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270"/>
                      </p:stCondLst>
                      <p:childTnLst>
                        <p:par>
                          <p:cTn id="7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3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360"/>
                      </p:stCondLst>
                      <p:childTnLst>
                        <p:par>
                          <p:cTn id="7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8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presetID="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8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3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90"/>
                      </p:stCondLst>
                      <p:childTnLst>
                        <p:par>
                          <p:cTn id="8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8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8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180"/>
                      </p:stCondLst>
                      <p:childTnLst>
                        <p:par>
                          <p:cTn id="9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9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93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270"/>
                      </p:stCondLst>
                      <p:childTnLst>
                        <p:par>
                          <p:cTn id="95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97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98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360"/>
                      </p:stCondLst>
                      <p:childTnLst>
                        <p:par>
                          <p:cTn id="100" presetID="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2" dur="50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-0.4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3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1005840"/>
            <a:ext cx="2743200" cy="2743200"/>
          </a:xfrm>
          <a:prstGeom prst="ellipse">
            <a:avLst/>
          </a:prstGeom>
          <a:solidFill>
            <a:srgbClr val="18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011680"/>
            <a:ext cx="1371600" cy="137160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011680"/>
            <a:ext cx="8778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FA287"/>
                </a:solidFill>
                <a:latin typeface="Calibri"/>
              </a:rPr>
              <a:t>PHẦN 6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An toàn lao động &amp; môi trường</a:t>
            </a:r>
          </a:p>
          <a:p>
            <a:pPr algn="l"/>
            <a:r>
              <a:rPr sz="1500" b="0" i="0">
                <a:solidFill>
                  <a:srgbClr val="6FA287"/>
                </a:solidFill>
                <a:latin typeface="Calibri"/>
              </a:rPr>
              <a:t>PCCC · dung môi/VOC · xử lý khí thải – nước thải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160520"/>
            <a:ext cx="548640" cy="1417320"/>
          </a:xfrm>
          <a:prstGeom prst="roundRect">
            <a:avLst>
              <a:gd name="adj" fmla="val 12000"/>
            </a:avLst>
          </a:prstGeom>
          <a:solidFill>
            <a:srgbClr val="8C3B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66760" y="4306824"/>
            <a:ext cx="548640" cy="1417320"/>
          </a:xfrm>
          <a:prstGeom prst="roundRect">
            <a:avLst>
              <a:gd name="adj" fmla="val 12000"/>
            </a:avLst>
          </a:prstGeom>
          <a:solidFill>
            <a:srgbClr val="B56A3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15400" y="4160520"/>
            <a:ext cx="548640" cy="1417320"/>
          </a:xfrm>
          <a:prstGeom prst="roundRect">
            <a:avLst>
              <a:gd name="adj" fmla="val 12000"/>
            </a:avLst>
          </a:prstGeom>
          <a:solidFill>
            <a:srgbClr val="4A4F5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64040" y="4306824"/>
            <a:ext cx="548640" cy="1417320"/>
          </a:xfrm>
          <a:prstGeom prst="roundRect">
            <a:avLst>
              <a:gd name="adj" fmla="val 12000"/>
            </a:avLst>
          </a:prstGeom>
          <a:solidFill>
            <a:srgbClr val="1F4E3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12680" y="4160520"/>
            <a:ext cx="548640" cy="1417320"/>
          </a:xfrm>
          <a:prstGeom prst="roundRect">
            <a:avLst>
              <a:gd name="adj" fmla="val 12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61320" y="4306824"/>
            <a:ext cx="548640" cy="1417320"/>
          </a:xfrm>
          <a:prstGeom prst="roundRect">
            <a:avLst>
              <a:gd name="adj" fmla="val 12000"/>
            </a:avLst>
          </a:prstGeom>
          <a:solidFill>
            <a:srgbClr val="2E6E6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22" presetClass="entr" presetSubtype="4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180"/>
                      </p:stCondLst>
                      <p:childTnLst>
                        <p:par>
                          <p:cTn id="13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270"/>
                      </p:stCondLst>
                      <p:childTnLst>
                        <p:par>
                          <p:cTn id="17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360"/>
                      </p:stCondLst>
                      <p:childTnLst>
                        <p:par>
                          <p:cTn id="21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450"/>
                      </p:stCondLst>
                      <p:childTnLst>
                        <p:par>
                          <p:cTn id="25" presetID="22" presetClass="entr" presetSubtype="4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C7A5A"/>
                </a:solidFill>
                <a:latin typeface="Calibri"/>
              </a:rPr>
              <a:t>6. AN TOÀN LAO ĐỘNG</a:t>
            </a:r>
          </a:p>
          <a:p>
            <a:pPr algn="l"/>
            <a:r>
              <a:rPr sz="2700" b="1" i="0">
                <a:solidFill>
                  <a:srgbClr val="1F4E3D"/>
                </a:solidFill>
                <a:latin typeface="Cambria"/>
              </a:rPr>
              <a:t>Nhận diện nguy cơ &amp; biện pháp phòng ngừa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1810512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105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10512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4E3D"/>
                </a:solidFill>
                <a:latin typeface="Calibri"/>
              </a:rPr>
              <a:t>Cháy nổ dung môi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6888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9A661E"/>
                </a:solidFill>
                <a:latin typeface="Calibri"/>
              </a:rPr>
              <a:t>Nguy cơ: </a:t>
            </a:r>
            <a:r>
              <a:rPr sz="1300" b="0" i="0">
                <a:solidFill>
                  <a:srgbClr val="222B28"/>
                </a:solidFill>
                <a:latin typeface="Calibri"/>
              </a:rPr>
              <a:t>Dung môi hữu cơ (Xylene, Butyl Acetate) dễ bay hơi, bắt lửa.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7180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C7A5A"/>
                </a:solidFill>
                <a:latin typeface="Calibri"/>
              </a:rPr>
              <a:t>Biện pháp: </a:t>
            </a:r>
            <a:r>
              <a:rPr sz="1300" b="0" i="0">
                <a:solidFill>
                  <a:srgbClr val="222B28"/>
                </a:solidFill>
                <a:latin typeface="Calibri"/>
              </a:rPr>
              <a:t>Khu vực chống tĩnh điện, thiết bị phòng nổ, PCCC tại chỗ, cấm nguồn nhiệt/lửa hở.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8232" y="1810512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8105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810512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4E3D"/>
                </a:solidFill>
                <a:latin typeface="Calibri"/>
              </a:rPr>
              <a:t>Hơi dung môi độc hại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6888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9A661E"/>
                </a:solidFill>
                <a:latin typeface="Calibri"/>
              </a:rPr>
              <a:t>Nguy cơ: </a:t>
            </a:r>
            <a:r>
              <a:rPr sz="1300" b="0" i="0">
                <a:solidFill>
                  <a:srgbClr val="222B28"/>
                </a:solidFill>
                <a:latin typeface="Calibri"/>
              </a:rPr>
              <a:t>Hít hơi VOC gây hại hô hấp, thần kinh khi tiếp xúc lâu.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97180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C7A5A"/>
                </a:solidFill>
                <a:latin typeface="Calibri"/>
              </a:rPr>
              <a:t>Biện pháp: </a:t>
            </a:r>
            <a:r>
              <a:rPr sz="1300" b="0" i="0">
                <a:solidFill>
                  <a:srgbClr val="222B28"/>
                </a:solidFill>
                <a:latin typeface="Calibri"/>
              </a:rPr>
              <a:t>Thông gió cưỡng bức, mặt nạ phòng độc, giới hạn thời gian phơi nhiễm, quan trắc không khí.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050792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05079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050792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4E3D"/>
                </a:solidFill>
                <a:latin typeface="Calibri"/>
              </a:rPr>
              <a:t>Hóa chất &amp; bột màu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70916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9A661E"/>
                </a:solidFill>
                <a:latin typeface="Calibri"/>
              </a:rPr>
              <a:t>Nguy cơ: </a:t>
            </a:r>
            <a:r>
              <a:rPr sz="1300" b="0" i="0">
                <a:solidFill>
                  <a:srgbClr val="222B28"/>
                </a:solidFill>
                <a:latin typeface="Calibri"/>
              </a:rPr>
              <a:t>Tiếp xúc da/mắt với hóa chất, bụi bột màu vô cơ.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521208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C7A5A"/>
                </a:solidFill>
                <a:latin typeface="Calibri"/>
              </a:rPr>
              <a:t>Biện pháp: </a:t>
            </a:r>
            <a:r>
              <a:rPr sz="1300" b="0" i="0">
                <a:solidFill>
                  <a:srgbClr val="222B28"/>
                </a:solidFill>
                <a:latin typeface="Calibri"/>
              </a:rPr>
              <a:t>PPE đầy đủ (găng, kính, khẩu trang), rửa mắt khẩn cấp, ghi nhãn &amp; MSDS đầy đủ.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794760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28232" y="4050792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405079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050792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4E3D"/>
                </a:solidFill>
                <a:latin typeface="Calibri"/>
              </a:rPr>
              <a:t>Cơ khí — máy khuấy/nghiền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70916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9A661E"/>
                </a:solidFill>
                <a:latin typeface="Calibri"/>
              </a:rPr>
              <a:t>Nguy cơ: </a:t>
            </a:r>
            <a:r>
              <a:rPr sz="1300" b="0" i="0">
                <a:solidFill>
                  <a:srgbClr val="222B28"/>
                </a:solidFill>
                <a:latin typeface="Calibri"/>
              </a:rPr>
              <a:t>Cuốn kẹt, văng bắn ở máy tốc độ cao.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21208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C7A5A"/>
                </a:solidFill>
                <a:latin typeface="Calibri"/>
              </a:rPr>
              <a:t>Biện pháp: </a:t>
            </a:r>
            <a:r>
              <a:rPr sz="1300" b="0" i="0">
                <a:solidFill>
                  <a:srgbClr val="222B28"/>
                </a:solidFill>
                <a:latin typeface="Calibri"/>
              </a:rPr>
              <a:t>Che chắn bộ truyền động, nút dừng khẩn, quy trình khóa–treo (LOTO) khi bảo trì.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64"/>
                </a:solidFill>
                <a:latin typeface="Calibri"/>
              </a:rPr>
              <a:t>Báo cáo thực tập  ·  Công ty TNHH Sơn Hải Vân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C7A5A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47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90"/>
                      </p:stCondLst>
                      <p:childTnLst>
                        <p:par>
                          <p:cTn id="1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" dur="5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" dur="5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270"/>
                      </p:stCondLst>
                      <p:childTnLst>
                        <p:par>
                          <p:cTn id="2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3" dur="5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360"/>
                      </p:stCondLst>
                      <p:childTnLst>
                        <p:par>
                          <p:cTn id="2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8" dur="5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presetID="47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3" dur="5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90"/>
                      </p:stCondLst>
                      <p:childTnLst>
                        <p:par>
                          <p:cTn id="3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8" dur="5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80"/>
                      </p:stCondLst>
                      <p:childTnLst>
                        <p:par>
                          <p:cTn id="4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3" dur="5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270"/>
                      </p:stCondLst>
                      <p:childTnLst>
                        <p:par>
                          <p:cTn id="4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8" dur="5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360"/>
                      </p:stCondLst>
                      <p:childTnLst>
                        <p:par>
                          <p:cTn id="5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3" dur="5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47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58" dur="5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90"/>
                      </p:stCondLst>
                      <p:childTnLst>
                        <p:par>
                          <p:cTn id="6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3" dur="5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180"/>
                      </p:stCondLst>
                      <p:childTnLst>
                        <p:par>
                          <p:cTn id="6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68" dur="5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270"/>
                      </p:stCondLst>
                      <p:childTnLst>
                        <p:par>
                          <p:cTn id="7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3" dur="5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360"/>
                      </p:stCondLst>
                      <p:childTnLst>
                        <p:par>
                          <p:cTn id="7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8" dur="5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presetID="47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8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3" dur="5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90"/>
                      </p:stCondLst>
                      <p:childTnLst>
                        <p:par>
                          <p:cTn id="8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8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8" dur="55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180"/>
                      </p:stCondLst>
                      <p:childTnLst>
                        <p:par>
                          <p:cTn id="9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9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93" dur="55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270"/>
                      </p:stCondLst>
                      <p:childTnLst>
                        <p:par>
                          <p:cTn id="9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9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98" dur="55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360"/>
                      </p:stCondLst>
                      <p:childTnLst>
                        <p:par>
                          <p:cTn id="10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03" dur="55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C7A5A"/>
                </a:solidFill>
                <a:latin typeface="Calibri"/>
              </a:rPr>
              <a:t>6. VẤN ĐỀ MÔI TRƯỜNG</a:t>
            </a:r>
          </a:p>
          <a:p>
            <a:pPr algn="l"/>
            <a:r>
              <a:rPr sz="2700" b="1" i="0">
                <a:solidFill>
                  <a:srgbClr val="1F4E3D"/>
                </a:solidFill>
                <a:latin typeface="Cambria"/>
              </a:rPr>
              <a:t>Kiểm soát chất thải trong sản xuất sơn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109960" cy="137160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880360" cy="1371600"/>
          </a:xfrm>
          <a:prstGeom prst="roundRect">
            <a:avLst>
              <a:gd name="adj" fmla="val 6000"/>
            </a:avLst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0" y="1554480"/>
            <a:ext cx="137160" cy="1371600"/>
          </a:xfrm>
          <a:prstGeom prst="rect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7"/>
            <a:ext cx="2606040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Khí thải — hơi VOC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682495"/>
            <a:ext cx="7863840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 i="0">
                <a:solidFill>
                  <a:srgbClr val="2C7A5A"/>
                </a:solidFill>
                <a:latin typeface="Calibri"/>
              </a:rPr>
              <a:t>Nguồn phát sinh: </a:t>
            </a:r>
            <a:r>
              <a:rPr sz="1350" b="0" i="0">
                <a:solidFill>
                  <a:srgbClr val="222B28"/>
                </a:solidFill>
                <a:latin typeface="Calibri"/>
              </a:rPr>
              <a:t>Hơi dung môi hữu cơ phát sinh khi đánh paste, pha loãng, vệ sinh thiết bị.</a:t>
            </a:r>
          </a:p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2C7A5A"/>
                </a:solidFill>
                <a:latin typeface="Calibri"/>
              </a:rPr>
              <a:t>Giải pháp: </a:t>
            </a:r>
            <a:r>
              <a:rPr sz="1350" b="0" i="0">
                <a:solidFill>
                  <a:srgbClr val="222B28"/>
                </a:solidFill>
                <a:latin typeface="Calibri"/>
              </a:rPr>
              <a:t>Thu gom qua chụp hút → xử lý bằng than hoạt tính / buồng đốt; hướng dùng sơn hệ nước &amp; rắn cao (high-solid) để giảm VOC.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35808"/>
            <a:ext cx="11109960" cy="137160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035808"/>
            <a:ext cx="2880360" cy="1371600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3035808"/>
            <a:ext cx="137160" cy="13716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45536"/>
            <a:ext cx="2606040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Nước thải &amp; dung môi thải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163824"/>
            <a:ext cx="7863840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 i="0">
                <a:solidFill>
                  <a:srgbClr val="1F4E3D"/>
                </a:solidFill>
                <a:latin typeface="Calibri"/>
              </a:rPr>
              <a:t>Nguồn phát sinh: </a:t>
            </a:r>
            <a:r>
              <a:rPr sz="1350" b="0" i="0">
                <a:solidFill>
                  <a:srgbClr val="222B28"/>
                </a:solidFill>
                <a:latin typeface="Calibri"/>
              </a:rPr>
              <a:t>Nước rửa thiết bị, cặn sơn, dung môi bẩn sau vệ sinh.</a:t>
            </a:r>
          </a:p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2C7A5A"/>
                </a:solidFill>
                <a:latin typeface="Calibri"/>
              </a:rPr>
              <a:t>Giải pháp: </a:t>
            </a:r>
            <a:r>
              <a:rPr sz="1350" b="0" i="0">
                <a:solidFill>
                  <a:srgbClr val="222B28"/>
                </a:solidFill>
                <a:latin typeface="Calibri"/>
              </a:rPr>
              <a:t>Lắng – tách cặn, thu hồi dung môi tái chưng cất; cặn sơn xử lý như chất thải nguy hại theo quy định.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109960" cy="1371600"/>
          </a:xfrm>
          <a:prstGeom prst="roundRect">
            <a:avLst>
              <a:gd name="adj" fmla="val 6000"/>
            </a:avLst>
          </a:prstGeom>
          <a:solidFill>
            <a:srgbClr val="EEF4F0"/>
          </a:solidFill>
          <a:ln w="12700">
            <a:solidFill>
              <a:srgbClr val="D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517136"/>
            <a:ext cx="2880360" cy="1371600"/>
          </a:xfrm>
          <a:prstGeom prst="roundRect">
            <a:avLst>
              <a:gd name="adj" fmla="val 6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4517136"/>
            <a:ext cx="137160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26864"/>
            <a:ext cx="2606040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Chất thải rắn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4645152"/>
            <a:ext cx="7863840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 i="0">
                <a:solidFill>
                  <a:srgbClr val="C88A2E"/>
                </a:solidFill>
                <a:latin typeface="Calibri"/>
              </a:rPr>
              <a:t>Nguồn phát sinh: </a:t>
            </a:r>
            <a:r>
              <a:rPr sz="1350" b="0" i="0">
                <a:solidFill>
                  <a:srgbClr val="222B28"/>
                </a:solidFill>
                <a:latin typeface="Calibri"/>
              </a:rPr>
              <a:t>Bao bì hóa chất, cặn bột màu, giẻ lau dính sơn/dung môi.</a:t>
            </a:r>
          </a:p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2C7A5A"/>
                </a:solidFill>
                <a:latin typeface="Calibri"/>
              </a:rPr>
              <a:t>Giải pháp: </a:t>
            </a:r>
            <a:r>
              <a:rPr sz="1350" b="0" i="0">
                <a:solidFill>
                  <a:srgbClr val="222B28"/>
                </a:solidFill>
                <a:latin typeface="Calibri"/>
              </a:rPr>
              <a:t>Phân loại tại nguồn, lưu kho chất thải nguy hại, hợp đồng đơn vị có chức năng thu gom – xử lý.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447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C6B64"/>
                </a:solidFill>
                <a:latin typeface="Calibri"/>
              </a:rPr>
              <a:t>Tuân thủ QCVN về khí thải / nước thải công nghiệp và Luật Bảo vệ môi trường; hướng bền vững là giảm dung môi, tăng sơn hệ nước.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C7A5A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22" presetClass="entr" presetSubtype="1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" dur="5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90"/>
                      </p:stCondLst>
                      <p:childTnLst>
                        <p:par>
                          <p:cTn id="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" dur="5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180"/>
                      </p:stCondLst>
                      <p:childTnLst>
                        <p:par>
                          <p:cTn id="13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" dur="5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270"/>
                      </p:stCondLst>
                      <p:childTnLst>
                        <p:par>
                          <p:cTn id="17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" dur="5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360"/>
                      </p:stCondLst>
                      <p:childTnLst>
                        <p:par>
                          <p:cTn id="21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" dur="5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22" presetClass="entr" presetSubtype="1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" dur="5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90"/>
                      </p:stCondLst>
                      <p:childTnLst>
                        <p:par>
                          <p:cTn id="2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" dur="5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180"/>
                      </p:stCondLst>
                      <p:childTnLst>
                        <p:par>
                          <p:cTn id="33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5" dur="5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270"/>
                      </p:stCondLst>
                      <p:childTnLst>
                        <p:par>
                          <p:cTn id="37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9" dur="5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360"/>
                      </p:stCondLst>
                      <p:childTnLst>
                        <p:par>
                          <p:cTn id="41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3" dur="5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presetID="22" presetClass="entr" presetSubtype="1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7" dur="5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90"/>
                      </p:stCondLst>
                      <p:childTnLst>
                        <p:par>
                          <p:cTn id="49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180"/>
                      </p:stCondLst>
                      <p:childTnLst>
                        <p:par>
                          <p:cTn id="53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5" dur="5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270"/>
                      </p:stCondLst>
                      <p:childTnLst>
                        <p:par>
                          <p:cTn id="57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9" dur="5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60"/>
                      </p:stCondLst>
                      <p:childTnLst>
                        <p:par>
                          <p:cTn id="61" presetID="22" presetClass="entr" presetSubtype="1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3" dur="5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5120640"/>
            <a:ext cx="2743200" cy="2743200"/>
          </a:xfrm>
          <a:prstGeom prst="ellipse">
            <a:avLst/>
          </a:prstGeom>
          <a:solidFill>
            <a:srgbClr val="2C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377440" cy="2377440"/>
          </a:xfrm>
          <a:prstGeom prst="ellipse">
            <a:avLst/>
          </a:prstGeom>
          <a:solidFill>
            <a:srgbClr val="18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88A2E"/>
                </a:solidFill>
                <a:latin typeface="Calibri"/>
              </a:rPr>
              <a:t>KẾT LUẬN &amp; KIẾN NGHỊ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Tổng kết đợt thực tập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0515600" cy="1234440"/>
          </a:xfrm>
          <a:prstGeom prst="roundRect">
            <a:avLst>
              <a:gd name="adj" fmla="val 6000"/>
            </a:avLst>
          </a:prstGeom>
          <a:solidFill>
            <a:srgbClr val="18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331720"/>
            <a:ext cx="594360" cy="59436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176272"/>
            <a:ext cx="9235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2C96B"/>
                </a:solidFill>
                <a:latin typeface="Calibri"/>
              </a:rPr>
              <a:t>Kết quả đạt được</a:t>
            </a:r>
          </a:p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CF3EE"/>
                </a:solidFill>
                <a:latin typeface="Calibri"/>
              </a:rPr>
              <a:t>Nắm vững quy trình công nghệ sản xuất sơn, hệ tiêu chuẩn kiểm soát chất lượng (QC) và cách vận hành thiết bị chính tại nhà máy.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83280"/>
            <a:ext cx="10515600" cy="1234440"/>
          </a:xfrm>
          <a:prstGeom prst="roundRect">
            <a:avLst>
              <a:gd name="adj" fmla="val 6000"/>
            </a:avLst>
          </a:prstGeom>
          <a:solidFill>
            <a:srgbClr val="18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3703320"/>
            <a:ext cx="594360" cy="59436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703320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547872"/>
            <a:ext cx="9235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2C96B"/>
                </a:solidFill>
                <a:latin typeface="Calibri"/>
              </a:rPr>
              <a:t>Kiến nghị 1 — Số hóa màu sắc</a:t>
            </a:r>
          </a:p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CF3EE"/>
                </a:solidFill>
                <a:latin typeface="Calibri"/>
              </a:rPr>
              <a:t>Xây dựng thư viện màu chuẩn điện tử thay cho việc chỉ lưu mẫu chuẩn vật lý, giảm sai lệch giữa các mẻ.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54880"/>
            <a:ext cx="10515600" cy="1234440"/>
          </a:xfrm>
          <a:prstGeom prst="roundRect">
            <a:avLst>
              <a:gd name="adj" fmla="val 6000"/>
            </a:avLst>
          </a:prstGeom>
          <a:solidFill>
            <a:srgbClr val="18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5074920"/>
            <a:ext cx="594360" cy="59436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074920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919472"/>
            <a:ext cx="9235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2C96B"/>
                </a:solidFill>
                <a:latin typeface="Calibri"/>
              </a:rPr>
              <a:t>Kiến nghị 2 — Truy xuất nguồn gốc</a:t>
            </a:r>
          </a:p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ECF3EE"/>
                </a:solidFill>
                <a:latin typeface="Calibri"/>
              </a:rPr>
              <a:t>Gắn QR Code / Barcode cho từng mẻ sơn, liên kết dữ liệu máy đo màu, độ mịn và nguyên liệu đầu vào.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1">
                <a:solidFill>
                  <a:srgbClr val="FFFFFF"/>
                </a:solidFill>
                <a:latin typeface="Calibri"/>
              </a:rPr>
              <a:t>Xin chân thành cảm ơn quý thầy cô và Công ty TNHH Sơn Hải Vân đã hướng dẫn!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47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90"/>
                      </p:stCondLst>
                      <p:childTnLst>
                        <p:par>
                          <p:cTn id="1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" dur="5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" dur="5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presetID="47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3" dur="5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90"/>
                      </p:stCondLst>
                      <p:childTnLst>
                        <p:par>
                          <p:cTn id="2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8" dur="5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180"/>
                      </p:stCondLst>
                      <p:childTnLst>
                        <p:par>
                          <p:cTn id="3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3" dur="5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presetID="47" presetClass="entr" presetSubtype="8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3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38" dur="5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90"/>
                      </p:stCondLst>
                      <p:childTnLst>
                        <p:par>
                          <p:cTn id="40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2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3" dur="5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180"/>
                      </p:stCondLst>
                      <p:childTnLst>
                        <p:par>
                          <p:cTn id="45" presetID="47" presetClass="entr" presetSubtype="8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47" dur="55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48" dur="5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